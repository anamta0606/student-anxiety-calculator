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Noto Sans TC" panose="020B0604020202020204" charset="-128"/>
      <p:regular r:id="rId13"/>
      <p:bold r:id="rId14"/>
    </p:embeddedFont>
    <p:embeddedFont>
      <p:font typeface="Sora" panose="020B0604020202020204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‹#›</a:t>
            </a:fld>
            <a:endParaRPr sz="1200" b="0" i="0" u="none" strike="noStrike" cap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4" name="Google Shape;5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8" name="Google Shape;21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7" name="Google Shape;23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7" name="Google Shape;24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4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5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7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8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9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>
  <p:cSld name="Slide 9 mast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10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0 master">
  <p:cSld name="Slide 10 mast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1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6280190" y="2223730"/>
            <a:ext cx="7171134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4450"/>
              <a:buFont typeface="Sora"/>
              <a:buNone/>
            </a:pPr>
            <a:r>
              <a:rPr lang="en-US" sz="4450" b="0" i="0" u="none" strike="noStrike" cap="none">
                <a:solidFill>
                  <a:srgbClr val="97B8FF"/>
                </a:solidFill>
                <a:latin typeface="Sora"/>
                <a:ea typeface="Sora"/>
                <a:cs typeface="Sora"/>
                <a:sym typeface="Sora"/>
              </a:rPr>
              <a:t>Study Anxiety Calculator</a:t>
            </a:r>
            <a:endParaRPr sz="4450" b="0" i="0" u="none" strike="noStrike" cap="none"/>
          </a:p>
        </p:txBody>
      </p:sp>
      <p:sp>
        <p:nvSpPr>
          <p:cNvPr id="58" name="Google Shape;58;p13"/>
          <p:cNvSpPr/>
          <p:nvPr/>
        </p:nvSpPr>
        <p:spPr>
          <a:xfrm>
            <a:off x="6280190" y="3023235"/>
            <a:ext cx="4073843" cy="425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2650"/>
              <a:buFont typeface="Sora"/>
              <a:buNone/>
            </a:pPr>
            <a:r>
              <a:rPr lang="en-US" sz="2650" b="0" i="0" u="none" strike="noStrike" cap="none">
                <a:solidFill>
                  <a:srgbClr val="97B8FF"/>
                </a:solidFill>
                <a:latin typeface="Sora"/>
                <a:ea typeface="Sora"/>
                <a:cs typeface="Sora"/>
                <a:sym typeface="Sora"/>
              </a:rPr>
              <a:t>A C++ Project Overview</a:t>
            </a:r>
            <a:endParaRPr sz="2650" b="0" i="0" u="none" strike="noStrike" cap="none"/>
          </a:p>
        </p:txBody>
      </p:sp>
      <p:sp>
        <p:nvSpPr>
          <p:cNvPr id="59" name="Google Shape;59;p13"/>
          <p:cNvSpPr/>
          <p:nvPr/>
        </p:nvSpPr>
        <p:spPr>
          <a:xfrm>
            <a:off x="6244089" y="5274893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Noto Sans TC"/>
              <a:buNone/>
            </a:pPr>
            <a:r>
              <a:rPr lang="en-US" sz="1750" b="0" i="0" u="none" strike="noStrike" cap="none" dirty="0">
                <a:solidFill>
                  <a:schemeClr val="bg1">
                    <a:lumMod val="75000"/>
                  </a:schemeClr>
                </a:solidFill>
                <a:latin typeface="Noto Sans TC"/>
                <a:ea typeface="Noto Sans TC"/>
                <a:cs typeface="Noto Sans TC"/>
                <a:sym typeface="Noto Sans TC"/>
              </a:rPr>
              <a:t>Anamta Khurram {SP25- BSSE-0033}</a:t>
            </a:r>
            <a:endParaRPr sz="1750" b="0" i="0" u="none" strike="noStrike" cap="none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7073979" y="5988396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Noto Sans TC"/>
              <a:buNone/>
            </a:pPr>
            <a:r>
              <a:rPr lang="en-US" sz="2800" b="0" i="0" u="none" strike="noStrike" cap="none" dirty="0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Muhammad Ali Jinnah University</a:t>
            </a:r>
            <a:endParaRPr sz="2800" b="0" i="0" u="none" strike="noStrike" cap="non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D7DBBC-78DE-C66E-EEE6-80D7403DD9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022574" y="99188"/>
            <a:ext cx="2857500" cy="1600200"/>
          </a:xfrm>
          <a:prstGeom prst="rect">
            <a:avLst/>
          </a:prstGeom>
        </p:spPr>
      </p:pic>
      <p:sp>
        <p:nvSpPr>
          <p:cNvPr id="4" name="Google Shape;59;p13">
            <a:extLst>
              <a:ext uri="{FF2B5EF4-FFF2-40B4-BE49-F238E27FC236}">
                <a16:creationId xmlns:a16="http://schemas.microsoft.com/office/drawing/2014/main" id="{B1A3B888-EFF7-4BD4-174E-91FB68F1450F}"/>
              </a:ext>
            </a:extLst>
          </p:cNvPr>
          <p:cNvSpPr/>
          <p:nvPr/>
        </p:nvSpPr>
        <p:spPr>
          <a:xfrm>
            <a:off x="6244086" y="4793925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Noto Sans TC"/>
              <a:buNone/>
            </a:pPr>
            <a:r>
              <a:rPr lang="en-US" sz="1800" b="1" dirty="0">
                <a:solidFill>
                  <a:schemeClr val="bg1"/>
                </a:solidFill>
              </a:rPr>
              <a:t>SUBMITED BY:</a:t>
            </a:r>
            <a:endParaRPr sz="1800" b="1" i="0" u="none" strike="noStrike" cap="none" dirty="0">
              <a:solidFill>
                <a:schemeClr val="bg1"/>
              </a:solidFill>
            </a:endParaRPr>
          </a:p>
        </p:txBody>
      </p:sp>
      <p:sp>
        <p:nvSpPr>
          <p:cNvPr id="5" name="Google Shape;59;p13">
            <a:extLst>
              <a:ext uri="{FF2B5EF4-FFF2-40B4-BE49-F238E27FC236}">
                <a16:creationId xmlns:a16="http://schemas.microsoft.com/office/drawing/2014/main" id="{7315B625-663A-B498-06D6-8229FE2D3E40}"/>
              </a:ext>
            </a:extLst>
          </p:cNvPr>
          <p:cNvSpPr/>
          <p:nvPr/>
        </p:nvSpPr>
        <p:spPr>
          <a:xfrm>
            <a:off x="6244091" y="3843892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Noto Sans TC"/>
              <a:buNone/>
            </a:pPr>
            <a:r>
              <a:rPr lang="en-US" sz="1800" b="1" i="0" u="none" strike="noStrike" cap="none" dirty="0">
                <a:solidFill>
                  <a:schemeClr val="bg1"/>
                </a:solidFill>
              </a:rPr>
              <a:t>SUBMITED TO:</a:t>
            </a:r>
            <a:endParaRPr sz="1800" b="1" i="0" u="none" strike="noStrike" cap="none" dirty="0">
              <a:solidFill>
                <a:schemeClr val="bg1"/>
              </a:solidFill>
            </a:endParaRPr>
          </a:p>
        </p:txBody>
      </p:sp>
      <p:sp>
        <p:nvSpPr>
          <p:cNvPr id="6" name="Google Shape;59;p13">
            <a:extLst>
              <a:ext uri="{FF2B5EF4-FFF2-40B4-BE49-F238E27FC236}">
                <a16:creationId xmlns:a16="http://schemas.microsoft.com/office/drawing/2014/main" id="{789A87F4-F502-569F-AC49-334A55AF28A4}"/>
              </a:ext>
            </a:extLst>
          </p:cNvPr>
          <p:cNvSpPr/>
          <p:nvPr/>
        </p:nvSpPr>
        <p:spPr>
          <a:xfrm>
            <a:off x="6244087" y="4312957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Noto Sans TC"/>
              <a:buNone/>
            </a:pPr>
            <a:r>
              <a:rPr lang="en-US" sz="1750" b="0" i="0" u="none" strike="noStrike" cap="none" dirty="0">
                <a:solidFill>
                  <a:schemeClr val="bg1">
                    <a:lumMod val="75000"/>
                  </a:schemeClr>
                </a:solidFill>
              </a:rPr>
              <a:t>Miss Aiman Fatima</a:t>
            </a:r>
            <a:endParaRPr sz="1750" b="0" i="0" u="none" strike="noStrike" cap="none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/>
          <p:nvPr/>
        </p:nvSpPr>
        <p:spPr>
          <a:xfrm>
            <a:off x="643295" y="652224"/>
            <a:ext cx="7261384" cy="574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3600"/>
              <a:buFont typeface="Sora"/>
              <a:buNone/>
            </a:pPr>
            <a:r>
              <a:rPr lang="en-US" sz="3600" b="0" i="0" u="none" strike="noStrike" cap="none">
                <a:solidFill>
                  <a:srgbClr val="97B8FF"/>
                </a:solidFill>
                <a:latin typeface="Sora"/>
                <a:ea typeface="Sora"/>
                <a:cs typeface="Sora"/>
                <a:sym typeface="Sora"/>
              </a:rPr>
              <a:t>Our Core Objectives &amp; Purpose</a:t>
            </a:r>
            <a:endParaRPr sz="3600" b="0" i="0" u="none" strike="noStrike" cap="none"/>
          </a:p>
        </p:txBody>
      </p:sp>
      <p:pic>
        <p:nvPicPr>
          <p:cNvPr id="69" name="Google Shape;69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3295" y="1709023"/>
            <a:ext cx="4115633" cy="4115633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/>
          <p:nvPr/>
        </p:nvSpPr>
        <p:spPr>
          <a:xfrm>
            <a:off x="643295" y="6031349"/>
            <a:ext cx="2297787" cy="287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1800"/>
              <a:buFont typeface="Sora"/>
              <a:buNone/>
            </a:pPr>
            <a:r>
              <a:rPr lang="en-US" sz="1800" b="0" i="0" u="none" strike="noStrike" cap="none">
                <a:solidFill>
                  <a:srgbClr val="97B8FF"/>
                </a:solidFill>
                <a:latin typeface="Sora"/>
                <a:ea typeface="Sora"/>
                <a:cs typeface="Sora"/>
                <a:sym typeface="Sora"/>
              </a:rPr>
              <a:t>Project Objectives</a:t>
            </a:r>
            <a:endParaRPr sz="1800" b="0" i="0" u="none" strike="noStrike" cap="none"/>
          </a:p>
        </p:txBody>
      </p:sp>
      <p:sp>
        <p:nvSpPr>
          <p:cNvPr id="71" name="Google Shape;71;p14"/>
          <p:cNvSpPr/>
          <p:nvPr/>
        </p:nvSpPr>
        <p:spPr>
          <a:xfrm>
            <a:off x="643295" y="6502241"/>
            <a:ext cx="6447711" cy="29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00"/>
              <a:buFont typeface="Noto Sans TC"/>
              <a:buChar char="•"/>
            </a:pPr>
            <a:r>
              <a:rPr lang="en-US" sz="1400" b="0" i="0" u="none" strike="noStrike" cap="non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Precisely assess study-related anxiety levels.</a:t>
            </a:r>
            <a:endParaRPr sz="1400" b="0" i="0" u="none" strike="noStrike" cap="none"/>
          </a:p>
        </p:txBody>
      </p:sp>
      <p:sp>
        <p:nvSpPr>
          <p:cNvPr id="72" name="Google Shape;72;p14"/>
          <p:cNvSpPr/>
          <p:nvPr/>
        </p:nvSpPr>
        <p:spPr>
          <a:xfrm>
            <a:off x="643295" y="6860619"/>
            <a:ext cx="6447711" cy="29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00"/>
              <a:buFont typeface="Noto Sans TC"/>
              <a:buChar char="•"/>
            </a:pPr>
            <a:r>
              <a:rPr lang="en-US" sz="1400" b="0" i="0" u="none" strike="noStrike" cap="non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Provide personalized, actionable suggestions.</a:t>
            </a:r>
            <a:endParaRPr sz="1400" b="0" i="0" u="none" strike="noStrike" cap="none"/>
          </a:p>
        </p:txBody>
      </p:sp>
      <p:sp>
        <p:nvSpPr>
          <p:cNvPr id="73" name="Google Shape;73;p14"/>
          <p:cNvSpPr/>
          <p:nvPr/>
        </p:nvSpPr>
        <p:spPr>
          <a:xfrm>
            <a:off x="643295" y="7218998"/>
            <a:ext cx="6447711" cy="29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00"/>
              <a:buFont typeface="Noto Sans TC"/>
              <a:buChar char="•"/>
            </a:pPr>
            <a:r>
              <a:rPr lang="en-US" sz="1400" b="0" i="0" u="none" strike="noStrike" cap="non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Systematically collect user feedback for continuous improvement.</a:t>
            </a:r>
            <a:endParaRPr sz="1400" b="0" i="0" u="none" strike="noStrike" cap="none"/>
          </a:p>
        </p:txBody>
      </p:sp>
      <p:pic>
        <p:nvPicPr>
          <p:cNvPr id="74" name="Google Shape;74;p1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47015" y="1709023"/>
            <a:ext cx="4206596" cy="3707249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/>
          <p:nvPr/>
        </p:nvSpPr>
        <p:spPr>
          <a:xfrm>
            <a:off x="7547015" y="5622965"/>
            <a:ext cx="2477333" cy="287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1800"/>
              <a:buFont typeface="Sora"/>
              <a:buNone/>
            </a:pPr>
            <a:r>
              <a:rPr lang="en-US" sz="1800" b="0" i="0" u="none" strike="noStrike" cap="none">
                <a:solidFill>
                  <a:srgbClr val="97B8FF"/>
                </a:solidFill>
                <a:latin typeface="Sora"/>
                <a:ea typeface="Sora"/>
                <a:cs typeface="Sora"/>
                <a:sym typeface="Sora"/>
              </a:rPr>
              <a:t>Overarching Purpose</a:t>
            </a:r>
            <a:endParaRPr sz="1800" b="0" i="0" u="none" strike="noStrike" cap="none"/>
          </a:p>
        </p:txBody>
      </p:sp>
      <p:sp>
        <p:nvSpPr>
          <p:cNvPr id="76" name="Google Shape;76;p14"/>
          <p:cNvSpPr/>
          <p:nvPr/>
        </p:nvSpPr>
        <p:spPr>
          <a:xfrm>
            <a:off x="7547015" y="6093857"/>
            <a:ext cx="6447711" cy="29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00"/>
              <a:buFont typeface="Noto Sans TC"/>
              <a:buChar char="•"/>
            </a:pPr>
            <a:r>
              <a:rPr lang="en-US" sz="1400" b="0" i="0" u="none" strike="noStrike" cap="non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Empower students to improve their study habits.</a:t>
            </a:r>
            <a:endParaRPr sz="1400" b="0" i="0" u="none" strike="noStrike" cap="none"/>
          </a:p>
        </p:txBody>
      </p:sp>
      <p:sp>
        <p:nvSpPr>
          <p:cNvPr id="77" name="Google Shape;77;p14"/>
          <p:cNvSpPr/>
          <p:nvPr/>
        </p:nvSpPr>
        <p:spPr>
          <a:xfrm>
            <a:off x="7547015" y="6452235"/>
            <a:ext cx="6447711" cy="29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00"/>
              <a:buFont typeface="Noto Sans TC"/>
              <a:buChar char="•"/>
            </a:pPr>
            <a:r>
              <a:rPr lang="en-US" sz="1400" b="0" i="0" u="none" strike="noStrike" cap="non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Help identify personal anxiety patterns.</a:t>
            </a:r>
            <a:endParaRPr sz="1400" b="0" i="0" u="none" strike="noStrike" cap="none"/>
          </a:p>
        </p:txBody>
      </p:sp>
      <p:sp>
        <p:nvSpPr>
          <p:cNvPr id="78" name="Google Shape;78;p14"/>
          <p:cNvSpPr/>
          <p:nvPr/>
        </p:nvSpPr>
        <p:spPr>
          <a:xfrm>
            <a:off x="7547015" y="6810613"/>
            <a:ext cx="6447711" cy="29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00"/>
              <a:buFont typeface="Noto Sans TC"/>
              <a:buChar char="•"/>
            </a:pPr>
            <a:r>
              <a:rPr lang="en-US" sz="1400" b="0" i="0" u="none" strike="noStrike" cap="non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Foster effective and sustainable learning strategies.</a:t>
            </a:r>
            <a:endParaRPr sz="1400" b="0" i="0" u="none" strike="noStrike" cap="non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/>
          <p:nvPr/>
        </p:nvSpPr>
        <p:spPr>
          <a:xfrm>
            <a:off x="652701" y="512802"/>
            <a:ext cx="11695271" cy="582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657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3650"/>
              <a:buFont typeface="Sora"/>
              <a:buNone/>
            </a:pPr>
            <a:r>
              <a:rPr lang="en-US" sz="3650" b="0" i="0" u="none" strike="noStrike" cap="none">
                <a:solidFill>
                  <a:srgbClr val="97B8FF"/>
                </a:solidFill>
                <a:latin typeface="Sora"/>
                <a:ea typeface="Sora"/>
                <a:cs typeface="Sora"/>
                <a:sym typeface="Sora"/>
              </a:rPr>
              <a:t>Architectural Blueprint: Class Structure Overview</a:t>
            </a:r>
            <a:endParaRPr sz="3650" b="0" i="0" u="none" strike="noStrike" cap="none"/>
          </a:p>
        </p:txBody>
      </p:sp>
      <p:sp>
        <p:nvSpPr>
          <p:cNvPr id="85" name="Google Shape;85;p15"/>
          <p:cNvSpPr/>
          <p:nvPr/>
        </p:nvSpPr>
        <p:spPr>
          <a:xfrm>
            <a:off x="652701" y="1468517"/>
            <a:ext cx="13324999" cy="298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Noto Sans TC"/>
              <a:buNone/>
            </a:pPr>
            <a:r>
              <a:rPr lang="en-US" sz="1450" b="0" i="0" u="none" strike="noStrike" cap="non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Our C++ project is built upon a modular, object-oriented design, ensuring scalability and maintainability.</a:t>
            </a:r>
            <a:endParaRPr sz="1450" b="0" i="0" u="none" strike="noStrike" cap="none"/>
          </a:p>
        </p:txBody>
      </p:sp>
      <p:pic>
        <p:nvPicPr>
          <p:cNvPr id="86" name="Google Shape;86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76475" y="1976557"/>
            <a:ext cx="10077450" cy="523244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5"/>
          <p:cNvSpPr/>
          <p:nvPr/>
        </p:nvSpPr>
        <p:spPr>
          <a:xfrm>
            <a:off x="6683362" y="4167017"/>
            <a:ext cx="1243545" cy="839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Sora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Class Diagram Overview</a:t>
            </a:r>
            <a:endParaRPr sz="1350" b="0" i="0" u="none" strike="noStrike" cap="none"/>
          </a:p>
        </p:txBody>
      </p:sp>
      <p:pic>
        <p:nvPicPr>
          <p:cNvPr id="88" name="Google Shape;88;p1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70500" y="3364154"/>
            <a:ext cx="253061" cy="25306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5"/>
          <p:cNvSpPr/>
          <p:nvPr/>
        </p:nvSpPr>
        <p:spPr>
          <a:xfrm>
            <a:off x="2515000" y="3056376"/>
            <a:ext cx="2178691" cy="279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350"/>
              <a:buFont typeface="Sora"/>
              <a:buNone/>
            </a:pPr>
            <a:r>
              <a:rPr lang="en-US" sz="1350" b="0" i="0" u="none" strike="noStrike" cap="none">
                <a:solidFill>
                  <a:srgbClr val="E0D6DE"/>
                </a:solidFill>
                <a:latin typeface="Sora"/>
                <a:ea typeface="Sora"/>
                <a:cs typeface="Sora"/>
                <a:sym typeface="Sora"/>
              </a:rPr>
              <a:t>User</a:t>
            </a:r>
            <a:endParaRPr sz="1350" b="0" i="0" u="none" strike="noStrike" cap="none"/>
          </a:p>
        </p:txBody>
      </p:sp>
      <p:sp>
        <p:nvSpPr>
          <p:cNvPr id="90" name="Google Shape;90;p15"/>
          <p:cNvSpPr/>
          <p:nvPr/>
        </p:nvSpPr>
        <p:spPr>
          <a:xfrm>
            <a:off x="2515000" y="3415761"/>
            <a:ext cx="2178691" cy="671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050"/>
              <a:buFont typeface="Noto Sans TC"/>
              <a:buNone/>
            </a:pPr>
            <a:r>
              <a:rPr lang="en-US" sz="1050" b="0" i="0" u="none" strike="noStrike" cap="non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SignUp and SignIn methods for authentication</a:t>
            </a:r>
            <a:endParaRPr sz="1050" b="0" i="0" u="none" strike="noStrike" cap="none"/>
          </a:p>
        </p:txBody>
      </p:sp>
      <p:sp>
        <p:nvSpPr>
          <p:cNvPr id="91" name="Google Shape;91;p15"/>
          <p:cNvSpPr/>
          <p:nvPr/>
        </p:nvSpPr>
        <p:spPr>
          <a:xfrm>
            <a:off x="9936476" y="3056376"/>
            <a:ext cx="2178691" cy="279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350"/>
              <a:buFont typeface="Sora"/>
              <a:buNone/>
            </a:pPr>
            <a:r>
              <a:rPr lang="en-US" sz="1350" b="0" i="0" u="none" strike="noStrike" cap="none">
                <a:solidFill>
                  <a:srgbClr val="E0D6DE"/>
                </a:solidFill>
                <a:latin typeface="Sora"/>
                <a:ea typeface="Sora"/>
                <a:cs typeface="Sora"/>
                <a:sym typeface="Sora"/>
              </a:rPr>
              <a:t>Question</a:t>
            </a:r>
            <a:endParaRPr sz="1350" b="0" i="0" u="none" strike="noStrike" cap="none"/>
          </a:p>
        </p:txBody>
      </p:sp>
      <p:sp>
        <p:nvSpPr>
          <p:cNvPr id="92" name="Google Shape;92;p15"/>
          <p:cNvSpPr/>
          <p:nvPr/>
        </p:nvSpPr>
        <p:spPr>
          <a:xfrm>
            <a:off x="9936476" y="3415761"/>
            <a:ext cx="2178691" cy="447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050"/>
              <a:buFont typeface="Noto Sans TC"/>
              <a:buNone/>
            </a:pPr>
            <a:r>
              <a:rPr lang="en-US" sz="1050" b="0" i="0" u="none" strike="noStrike" cap="non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text, options, scores; display and getScore</a:t>
            </a:r>
            <a:endParaRPr sz="1050" b="0" i="0" u="none" strike="noStrike" cap="none"/>
          </a:p>
        </p:txBody>
      </p:sp>
      <p:pic>
        <p:nvPicPr>
          <p:cNvPr id="93" name="Google Shape;93;p1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8004" y="2826942"/>
            <a:ext cx="253061" cy="253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02927" y="5532896"/>
            <a:ext cx="253061" cy="25306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5"/>
          <p:cNvSpPr/>
          <p:nvPr/>
        </p:nvSpPr>
        <p:spPr>
          <a:xfrm>
            <a:off x="2515000" y="5384293"/>
            <a:ext cx="2178691" cy="279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350"/>
              <a:buFont typeface="Sora"/>
              <a:buNone/>
            </a:pPr>
            <a:r>
              <a:rPr lang="en-US" sz="1350" b="0" i="0" u="none" strike="noStrike" cap="none">
                <a:solidFill>
                  <a:srgbClr val="E0D6DE"/>
                </a:solidFill>
                <a:latin typeface="Sora"/>
                <a:ea typeface="Sora"/>
                <a:cs typeface="Sora"/>
                <a:sym typeface="Sora"/>
              </a:rPr>
              <a:t>Quiz</a:t>
            </a:r>
            <a:endParaRPr sz="1350" b="0" i="0" u="none" strike="noStrike" cap="none"/>
          </a:p>
        </p:txBody>
      </p:sp>
      <p:sp>
        <p:nvSpPr>
          <p:cNvPr id="96" name="Google Shape;96;p15"/>
          <p:cNvSpPr/>
          <p:nvPr/>
        </p:nvSpPr>
        <p:spPr>
          <a:xfrm>
            <a:off x="2515000" y="5743677"/>
            <a:ext cx="2178691" cy="671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050"/>
              <a:buFont typeface="Noto Sans TC"/>
              <a:buNone/>
            </a:pPr>
            <a:r>
              <a:rPr lang="en-US" sz="1050" b="0" i="0" u="none" strike="noStrike" cap="non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addQuestion, start, getTotalScore, getMaxScore</a:t>
            </a:r>
            <a:endParaRPr sz="1050" b="0" i="0" u="none" strike="noStrike" cap="none"/>
          </a:p>
        </p:txBody>
      </p:sp>
      <p:sp>
        <p:nvSpPr>
          <p:cNvPr id="97" name="Google Shape;97;p15"/>
          <p:cNvSpPr/>
          <p:nvPr/>
        </p:nvSpPr>
        <p:spPr>
          <a:xfrm>
            <a:off x="9936476" y="5384293"/>
            <a:ext cx="2178691" cy="55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350"/>
              <a:buFont typeface="Sora"/>
              <a:buNone/>
            </a:pPr>
            <a:r>
              <a:rPr lang="en-US" sz="1350" b="0" i="0" u="none" strike="noStrike" cap="none">
                <a:solidFill>
                  <a:srgbClr val="E0D6DE"/>
                </a:solidFill>
                <a:latin typeface="Sora"/>
                <a:ea typeface="Sora"/>
                <a:cs typeface="Sora"/>
                <a:sym typeface="Sora"/>
              </a:rPr>
              <a:t>Assessment &amp; Results</a:t>
            </a:r>
            <a:endParaRPr sz="1350" b="0" i="0" u="none" strike="noStrike" cap="none"/>
          </a:p>
        </p:txBody>
      </p:sp>
      <p:sp>
        <p:nvSpPr>
          <p:cNvPr id="98" name="Google Shape;98;p15"/>
          <p:cNvSpPr/>
          <p:nvPr/>
        </p:nvSpPr>
        <p:spPr>
          <a:xfrm>
            <a:off x="9936476" y="6023475"/>
            <a:ext cx="2178691" cy="671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050"/>
              <a:buFont typeface="Noto Sans TC"/>
              <a:buNone/>
            </a:pPr>
            <a:r>
              <a:rPr lang="en-US" sz="1050" b="0" i="0" u="none" strike="noStrike" cap="non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Assessment (abstract) calculateResult; Result inherits</a:t>
            </a:r>
            <a:endParaRPr sz="1050" b="0" i="0" u="none" strike="noStrike" cap="none"/>
          </a:p>
        </p:txBody>
      </p:sp>
      <p:pic>
        <p:nvPicPr>
          <p:cNvPr id="99" name="Google Shape;99;p1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6713" y="6358610"/>
            <a:ext cx="253062" cy="253062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/>
          <p:nvPr/>
        </p:nvSpPr>
        <p:spPr>
          <a:xfrm>
            <a:off x="652701" y="7418784"/>
            <a:ext cx="13324999" cy="298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Noto Sans TC"/>
              <a:buNone/>
            </a:pPr>
            <a:r>
              <a:rPr lang="en-US" sz="1450" b="0" i="0" u="none" strike="noStrike" cap="non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This structured approach allows for clear separation of concerns and efficient development.</a:t>
            </a:r>
            <a:endParaRPr sz="1450" b="0" i="0" u="none" strike="noStrike" cap="non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/>
          <p:nvPr/>
        </p:nvSpPr>
        <p:spPr>
          <a:xfrm>
            <a:off x="692587" y="545425"/>
            <a:ext cx="7758827" cy="1236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74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3850"/>
              <a:buFont typeface="Sora"/>
              <a:buNone/>
            </a:pPr>
            <a:r>
              <a:rPr lang="en-US" sz="3850" b="0" i="0" u="none" strike="noStrike" cap="none" dirty="0">
                <a:solidFill>
                  <a:srgbClr val="97B8FF"/>
                </a:solidFill>
                <a:latin typeface="Sora"/>
                <a:ea typeface="Sora"/>
                <a:cs typeface="Sora"/>
                <a:sym typeface="Sora"/>
              </a:rPr>
              <a:t>Seamless Experience: User Interaction Flow</a:t>
            </a:r>
            <a:endParaRPr sz="3850" b="0" i="0" u="none" strike="noStrike" cap="none" dirty="0"/>
          </a:p>
        </p:txBody>
      </p:sp>
      <p:sp>
        <p:nvSpPr>
          <p:cNvPr id="108" name="Google Shape;108;p16"/>
          <p:cNvSpPr/>
          <p:nvPr/>
        </p:nvSpPr>
        <p:spPr>
          <a:xfrm>
            <a:off x="692587" y="2078831"/>
            <a:ext cx="7758827" cy="633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50"/>
              <a:buFont typeface="Noto Sans TC"/>
              <a:buNone/>
            </a:pPr>
            <a:r>
              <a:rPr lang="en-US" sz="1550" b="0" i="0" u="none" strike="noStrike" cap="non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The application guides users through a logical sequence, from onboarding to personalised insights.</a:t>
            </a:r>
            <a:endParaRPr sz="1550" b="0" i="0" u="none" strike="noStrike" cap="none"/>
          </a:p>
        </p:txBody>
      </p:sp>
      <p:pic>
        <p:nvPicPr>
          <p:cNvPr id="109" name="Google Shape;109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2587" y="2934533"/>
            <a:ext cx="989409" cy="118741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/>
          <p:nvPr/>
        </p:nvSpPr>
        <p:spPr>
          <a:xfrm>
            <a:off x="1879878" y="3132415"/>
            <a:ext cx="2473762" cy="309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900"/>
              <a:buFont typeface="Sora"/>
              <a:buNone/>
            </a:pPr>
            <a:r>
              <a:rPr lang="en-US" sz="1900" b="0" i="0" u="none" strike="noStrike" cap="none">
                <a:solidFill>
                  <a:srgbClr val="E0D6DE"/>
                </a:solidFill>
                <a:latin typeface="Sora"/>
                <a:ea typeface="Sora"/>
                <a:cs typeface="Sora"/>
                <a:sym typeface="Sora"/>
              </a:rPr>
              <a:t>User Onboarding</a:t>
            </a:r>
            <a:endParaRPr sz="1900" b="0" i="0" u="none" strike="noStrike" cap="none"/>
          </a:p>
        </p:txBody>
      </p:sp>
      <p:sp>
        <p:nvSpPr>
          <p:cNvPr id="111" name="Google Shape;111;p16"/>
          <p:cNvSpPr/>
          <p:nvPr/>
        </p:nvSpPr>
        <p:spPr>
          <a:xfrm>
            <a:off x="1879878" y="3560326"/>
            <a:ext cx="6571536" cy="316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50"/>
              <a:buFont typeface="Noto Sans TC"/>
              <a:buNone/>
            </a:pPr>
            <a:r>
              <a:rPr lang="en-US" sz="1550" b="0" i="0" u="none" strike="noStrike" cap="non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Sign Up Sign In</a:t>
            </a:r>
            <a:endParaRPr sz="1550" b="0" i="0" u="none" strike="noStrike" cap="none"/>
          </a:p>
        </p:txBody>
      </p:sp>
      <p:pic>
        <p:nvPicPr>
          <p:cNvPr id="112" name="Google Shape;112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2587" y="4121944"/>
            <a:ext cx="989409" cy="118741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/>
          <p:nvPr/>
        </p:nvSpPr>
        <p:spPr>
          <a:xfrm>
            <a:off x="1879878" y="4319826"/>
            <a:ext cx="2473762" cy="309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900"/>
              <a:buFont typeface="Sora"/>
              <a:buNone/>
            </a:pPr>
            <a:r>
              <a:rPr lang="en-US" sz="1900" b="0" i="0" u="none" strike="noStrike" cap="none">
                <a:solidFill>
                  <a:srgbClr val="E0D6DE"/>
                </a:solidFill>
                <a:latin typeface="Sora"/>
                <a:ea typeface="Sora"/>
                <a:cs typeface="Sora"/>
                <a:sym typeface="Sora"/>
              </a:rPr>
              <a:t>Quiz Engagement</a:t>
            </a:r>
            <a:endParaRPr sz="1900" b="0" i="0" u="none" strike="noStrike" cap="none"/>
          </a:p>
        </p:txBody>
      </p:sp>
      <p:sp>
        <p:nvSpPr>
          <p:cNvPr id="114" name="Google Shape;114;p16"/>
          <p:cNvSpPr/>
          <p:nvPr/>
        </p:nvSpPr>
        <p:spPr>
          <a:xfrm>
            <a:off x="1879878" y="4747736"/>
            <a:ext cx="6571536" cy="316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50"/>
              <a:buFont typeface="Noto Sans TC"/>
              <a:buNone/>
            </a:pPr>
            <a:r>
              <a:rPr lang="en-US" sz="1550" b="0" i="0" u="none" strike="noStrike" cap="non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Start Quiz Display Questions Get Choices Calculate Total Score</a:t>
            </a:r>
            <a:endParaRPr sz="1550" b="0" i="0" u="none" strike="noStrike" cap="none"/>
          </a:p>
        </p:txBody>
      </p:sp>
      <p:pic>
        <p:nvPicPr>
          <p:cNvPr id="115" name="Google Shape;115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2587" y="5309354"/>
            <a:ext cx="989409" cy="118741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/>
          <p:nvPr/>
        </p:nvSpPr>
        <p:spPr>
          <a:xfrm>
            <a:off x="1879878" y="5507236"/>
            <a:ext cx="2473762" cy="309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900"/>
              <a:buFont typeface="Sora"/>
              <a:buNone/>
            </a:pPr>
            <a:r>
              <a:rPr lang="en-US" sz="1900" b="0" i="0" u="none" strike="noStrike" cap="none">
                <a:solidFill>
                  <a:srgbClr val="E0D6DE"/>
                </a:solidFill>
                <a:latin typeface="Sora"/>
                <a:ea typeface="Sora"/>
                <a:cs typeface="Sora"/>
                <a:sym typeface="Sora"/>
              </a:rPr>
              <a:t>Result &amp; Analysis</a:t>
            </a:r>
            <a:endParaRPr sz="1900" b="0" i="0" u="none" strike="noStrike" cap="none"/>
          </a:p>
        </p:txBody>
      </p:sp>
      <p:sp>
        <p:nvSpPr>
          <p:cNvPr id="117" name="Google Shape;117;p16"/>
          <p:cNvSpPr/>
          <p:nvPr/>
        </p:nvSpPr>
        <p:spPr>
          <a:xfrm>
            <a:off x="1879878" y="5935147"/>
            <a:ext cx="6571536" cy="316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50"/>
              <a:buFont typeface="Noto Sans TC"/>
              <a:buNone/>
            </a:pPr>
            <a:r>
              <a:rPr lang="en-US" sz="1550" b="0" i="0" u="none" strike="noStrike" cap="non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Show Result Display Anxiety Level</a:t>
            </a:r>
            <a:endParaRPr sz="1550" b="0" i="0" u="none" strike="noStrike" cap="none"/>
          </a:p>
        </p:txBody>
      </p:sp>
      <p:pic>
        <p:nvPicPr>
          <p:cNvPr id="118" name="Google Shape;118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2587" y="6496764"/>
            <a:ext cx="989409" cy="118741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/>
          <p:nvPr/>
        </p:nvSpPr>
        <p:spPr>
          <a:xfrm>
            <a:off x="1879878" y="6694646"/>
            <a:ext cx="2726412" cy="309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900"/>
              <a:buFont typeface="Sora"/>
              <a:buNone/>
            </a:pPr>
            <a:r>
              <a:rPr lang="en-US" sz="1900" b="0" i="0" u="none" strike="noStrike" cap="none">
                <a:solidFill>
                  <a:srgbClr val="E0D6DE"/>
                </a:solidFill>
                <a:latin typeface="Sora"/>
                <a:ea typeface="Sora"/>
                <a:cs typeface="Sora"/>
                <a:sym typeface="Sora"/>
              </a:rPr>
              <a:t>Guidance &amp; Feedback</a:t>
            </a:r>
            <a:endParaRPr sz="1900" b="0" i="0" u="none" strike="noStrike" cap="none"/>
          </a:p>
        </p:txBody>
      </p:sp>
      <p:sp>
        <p:nvSpPr>
          <p:cNvPr id="120" name="Google Shape;120;p16"/>
          <p:cNvSpPr/>
          <p:nvPr/>
        </p:nvSpPr>
        <p:spPr>
          <a:xfrm>
            <a:off x="1879878" y="7122557"/>
            <a:ext cx="6571536" cy="316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50"/>
              <a:buFont typeface="Noto Sans TC"/>
              <a:buNone/>
            </a:pPr>
            <a:r>
              <a:rPr lang="en-US" sz="1550" b="0" i="0" u="none" strike="noStrike" cap="none" dirty="0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Show Suggestions Collect &amp; Display Feedback</a:t>
            </a:r>
            <a:endParaRPr sz="1550" b="0" i="0" u="none" strike="noStrike" cap="non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106D96-830A-F4B4-470B-CF60D667AB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0"/>
            <a:ext cx="676656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/>
          <p:nvPr/>
        </p:nvSpPr>
        <p:spPr>
          <a:xfrm>
            <a:off x="503753" y="410289"/>
            <a:ext cx="8153638" cy="449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2800"/>
              <a:buFont typeface="Sora"/>
              <a:buNone/>
            </a:pPr>
            <a:r>
              <a:rPr lang="en-US" sz="2800" b="0" i="0" u="none" strike="noStrike" cap="none">
                <a:solidFill>
                  <a:srgbClr val="97B8FF"/>
                </a:solidFill>
                <a:latin typeface="Sora"/>
                <a:ea typeface="Sora"/>
                <a:cs typeface="Sora"/>
                <a:sym typeface="Sora"/>
              </a:rPr>
              <a:t>Unveiling Anxiety: Quiz &amp; Scoring Mechanics</a:t>
            </a:r>
            <a:endParaRPr sz="2800" b="0" i="0" u="none" strike="noStrike" cap="none"/>
          </a:p>
        </p:txBody>
      </p:sp>
      <p:sp>
        <p:nvSpPr>
          <p:cNvPr id="127" name="Google Shape;127;p17"/>
          <p:cNvSpPr/>
          <p:nvPr/>
        </p:nvSpPr>
        <p:spPr>
          <a:xfrm>
            <a:off x="503753" y="1219676"/>
            <a:ext cx="2209800" cy="224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1400"/>
              <a:buFont typeface="Sora"/>
              <a:buNone/>
            </a:pPr>
            <a:r>
              <a:rPr lang="en-US" sz="1400" b="0" i="0" u="none" strike="noStrike" cap="none">
                <a:solidFill>
                  <a:srgbClr val="97B8FF"/>
                </a:solidFill>
                <a:latin typeface="Sora"/>
                <a:ea typeface="Sora"/>
                <a:cs typeface="Sora"/>
                <a:sym typeface="Sora"/>
              </a:rPr>
              <a:t>Response Scoring Scale</a:t>
            </a:r>
            <a:endParaRPr sz="1400" b="0" i="0" u="none" strike="noStrike" cap="none"/>
          </a:p>
        </p:txBody>
      </p:sp>
      <p:sp>
        <p:nvSpPr>
          <p:cNvPr id="128" name="Google Shape;128;p17"/>
          <p:cNvSpPr/>
          <p:nvPr/>
        </p:nvSpPr>
        <p:spPr>
          <a:xfrm>
            <a:off x="503753" y="1588294"/>
            <a:ext cx="6635948" cy="230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00"/>
              <a:buFont typeface="Noto Sans TC"/>
              <a:buNone/>
            </a:pPr>
            <a:r>
              <a:rPr lang="en-US" sz="1100" b="0" i="0" u="none" strike="noStrike" cap="non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Each response contributes to the overall anxiety score.</a:t>
            </a:r>
            <a:endParaRPr sz="1100" b="0" i="0" u="none" strike="noStrike" cap="none"/>
          </a:p>
        </p:txBody>
      </p:sp>
      <p:sp>
        <p:nvSpPr>
          <p:cNvPr id="129" name="Google Shape;129;p17"/>
          <p:cNvSpPr/>
          <p:nvPr/>
        </p:nvSpPr>
        <p:spPr>
          <a:xfrm>
            <a:off x="503753" y="1980367"/>
            <a:ext cx="6635948" cy="2105978"/>
          </a:xfrm>
          <a:prstGeom prst="roundRect">
            <a:avLst>
              <a:gd name="adj" fmla="val 1025"/>
            </a:avLst>
          </a:prstGeom>
          <a:noFill/>
          <a:ln w="9525" cap="flat" cmpd="sng">
            <a:solidFill>
              <a:srgbClr val="FFFFFF">
                <a:alpha val="2392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7"/>
          <p:cNvSpPr/>
          <p:nvPr/>
        </p:nvSpPr>
        <p:spPr>
          <a:xfrm>
            <a:off x="511373" y="1987987"/>
            <a:ext cx="6620708" cy="418147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655320" y="2081927"/>
            <a:ext cx="3018830" cy="230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5E98F1"/>
              </a:buClr>
              <a:buSzPts val="1100"/>
              <a:buFont typeface="Noto Sans TC"/>
              <a:buNone/>
            </a:pPr>
            <a:r>
              <a:rPr lang="en-US" sz="1100" b="0" i="0" u="none" strike="noStrike" cap="none">
                <a:solidFill>
                  <a:srgbClr val="5E98F1"/>
                </a:solidFill>
                <a:latin typeface="Noto Sans TC"/>
                <a:ea typeface="Noto Sans TC"/>
                <a:cs typeface="Noto Sans TC"/>
                <a:sym typeface="Noto Sans TC"/>
              </a:rPr>
              <a:t>Option</a:t>
            </a:r>
            <a:endParaRPr sz="1100" b="0" i="0" u="none" strike="noStrike" cap="none"/>
          </a:p>
        </p:txBody>
      </p:sp>
      <p:sp>
        <p:nvSpPr>
          <p:cNvPr id="132" name="Google Shape;132;p17"/>
          <p:cNvSpPr/>
          <p:nvPr/>
        </p:nvSpPr>
        <p:spPr>
          <a:xfrm>
            <a:off x="3969425" y="2081927"/>
            <a:ext cx="3018830" cy="230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5E98F1"/>
              </a:buClr>
              <a:buSzPts val="1100"/>
              <a:buFont typeface="Noto Sans TC"/>
              <a:buNone/>
            </a:pPr>
            <a:r>
              <a:rPr lang="en-US" sz="1100" b="0" i="0" u="none" strike="noStrike" cap="none">
                <a:solidFill>
                  <a:srgbClr val="5E98F1"/>
                </a:solidFill>
                <a:latin typeface="Noto Sans TC"/>
                <a:ea typeface="Noto Sans TC"/>
                <a:cs typeface="Noto Sans TC"/>
                <a:sym typeface="Noto Sans TC"/>
              </a:rPr>
              <a:t>Score</a:t>
            </a:r>
            <a:endParaRPr sz="1100" b="0" i="0" u="none" strike="noStrike" cap="none"/>
          </a:p>
        </p:txBody>
      </p:sp>
      <p:sp>
        <p:nvSpPr>
          <p:cNvPr id="133" name="Google Shape;133;p17"/>
          <p:cNvSpPr/>
          <p:nvPr/>
        </p:nvSpPr>
        <p:spPr>
          <a:xfrm>
            <a:off x="511373" y="2406134"/>
            <a:ext cx="6620708" cy="418147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655320" y="2500074"/>
            <a:ext cx="3018830" cy="230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5E98F1"/>
              </a:buClr>
              <a:buSzPts val="1100"/>
              <a:buFont typeface="Noto Sans TC"/>
              <a:buNone/>
            </a:pPr>
            <a:r>
              <a:rPr lang="en-US" sz="1100" b="0" i="0" u="none" strike="noStrike" cap="none">
                <a:solidFill>
                  <a:srgbClr val="5E98F1"/>
                </a:solidFill>
                <a:latin typeface="Noto Sans TC"/>
                <a:ea typeface="Noto Sans TC"/>
                <a:cs typeface="Noto Sans TC"/>
                <a:sym typeface="Noto Sans TC"/>
              </a:rPr>
              <a:t>Never</a:t>
            </a:r>
            <a:endParaRPr sz="1100" b="0" i="0" u="none" strike="noStrike" cap="none"/>
          </a:p>
        </p:txBody>
      </p:sp>
      <p:sp>
        <p:nvSpPr>
          <p:cNvPr id="135" name="Google Shape;135;p17"/>
          <p:cNvSpPr/>
          <p:nvPr/>
        </p:nvSpPr>
        <p:spPr>
          <a:xfrm>
            <a:off x="3969425" y="2500074"/>
            <a:ext cx="3018830" cy="230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5E98F1"/>
              </a:buClr>
              <a:buSzPts val="1100"/>
              <a:buFont typeface="Noto Sans TC"/>
              <a:buNone/>
            </a:pPr>
            <a:r>
              <a:rPr lang="en-US" sz="1100" b="0" i="0" u="none" strike="noStrike" cap="none">
                <a:solidFill>
                  <a:srgbClr val="5E98F1"/>
                </a:solidFill>
                <a:latin typeface="Noto Sans TC"/>
                <a:ea typeface="Noto Sans TC"/>
                <a:cs typeface="Noto Sans TC"/>
                <a:sym typeface="Noto Sans TC"/>
              </a:rPr>
              <a:t>1</a:t>
            </a:r>
            <a:endParaRPr sz="1100" b="0" i="0" u="none" strike="noStrike" cap="none"/>
          </a:p>
        </p:txBody>
      </p:sp>
      <p:sp>
        <p:nvSpPr>
          <p:cNvPr id="136" name="Google Shape;136;p17"/>
          <p:cNvSpPr/>
          <p:nvPr/>
        </p:nvSpPr>
        <p:spPr>
          <a:xfrm>
            <a:off x="511373" y="2824282"/>
            <a:ext cx="6620708" cy="418147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655320" y="2918222"/>
            <a:ext cx="3018830" cy="230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5E98F1"/>
              </a:buClr>
              <a:buSzPts val="1100"/>
              <a:buFont typeface="Noto Sans TC"/>
              <a:buNone/>
            </a:pPr>
            <a:r>
              <a:rPr lang="en-US" sz="1100" b="0" i="0" u="none" strike="noStrike" cap="none">
                <a:solidFill>
                  <a:srgbClr val="5E98F1"/>
                </a:solidFill>
                <a:latin typeface="Noto Sans TC"/>
                <a:ea typeface="Noto Sans TC"/>
                <a:cs typeface="Noto Sans TC"/>
                <a:sym typeface="Noto Sans TC"/>
              </a:rPr>
              <a:t>Rarely</a:t>
            </a:r>
            <a:endParaRPr sz="1100" b="0" i="0" u="none" strike="noStrike" cap="none"/>
          </a:p>
        </p:txBody>
      </p:sp>
      <p:sp>
        <p:nvSpPr>
          <p:cNvPr id="138" name="Google Shape;138;p17"/>
          <p:cNvSpPr/>
          <p:nvPr/>
        </p:nvSpPr>
        <p:spPr>
          <a:xfrm>
            <a:off x="3969425" y="2918222"/>
            <a:ext cx="3018830" cy="230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5E98F1"/>
              </a:buClr>
              <a:buSzPts val="1100"/>
              <a:buFont typeface="Noto Sans TC"/>
              <a:buNone/>
            </a:pPr>
            <a:r>
              <a:rPr lang="en-US" sz="1100" b="0" i="0" u="none" strike="noStrike" cap="none">
                <a:solidFill>
                  <a:srgbClr val="5E98F1"/>
                </a:solidFill>
                <a:latin typeface="Noto Sans TC"/>
                <a:ea typeface="Noto Sans TC"/>
                <a:cs typeface="Noto Sans TC"/>
                <a:sym typeface="Noto Sans TC"/>
              </a:rPr>
              <a:t>2</a:t>
            </a:r>
            <a:endParaRPr sz="1100" b="0" i="0" u="none" strike="noStrike" cap="none"/>
          </a:p>
        </p:txBody>
      </p:sp>
      <p:sp>
        <p:nvSpPr>
          <p:cNvPr id="139" name="Google Shape;139;p17"/>
          <p:cNvSpPr/>
          <p:nvPr/>
        </p:nvSpPr>
        <p:spPr>
          <a:xfrm>
            <a:off x="511373" y="3242429"/>
            <a:ext cx="6620708" cy="418147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655320" y="3336369"/>
            <a:ext cx="3018830" cy="230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5E98F1"/>
              </a:buClr>
              <a:buSzPts val="1100"/>
              <a:buFont typeface="Noto Sans TC"/>
              <a:buNone/>
            </a:pPr>
            <a:r>
              <a:rPr lang="en-US" sz="1100" b="0" i="0" u="none" strike="noStrike" cap="none">
                <a:solidFill>
                  <a:srgbClr val="5E98F1"/>
                </a:solidFill>
                <a:latin typeface="Noto Sans TC"/>
                <a:ea typeface="Noto Sans TC"/>
                <a:cs typeface="Noto Sans TC"/>
                <a:sym typeface="Noto Sans TC"/>
              </a:rPr>
              <a:t>Often</a:t>
            </a:r>
            <a:endParaRPr sz="1100" b="0" i="0" u="none" strike="noStrike" cap="none"/>
          </a:p>
        </p:txBody>
      </p:sp>
      <p:sp>
        <p:nvSpPr>
          <p:cNvPr id="141" name="Google Shape;141;p17"/>
          <p:cNvSpPr/>
          <p:nvPr/>
        </p:nvSpPr>
        <p:spPr>
          <a:xfrm>
            <a:off x="3969425" y="3336369"/>
            <a:ext cx="3018830" cy="230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5E98F1"/>
              </a:buClr>
              <a:buSzPts val="1100"/>
              <a:buFont typeface="Noto Sans TC"/>
              <a:buNone/>
            </a:pPr>
            <a:r>
              <a:rPr lang="en-US" sz="1100" b="0" i="0" u="none" strike="noStrike" cap="none">
                <a:solidFill>
                  <a:srgbClr val="5E98F1"/>
                </a:solidFill>
                <a:latin typeface="Noto Sans TC"/>
                <a:ea typeface="Noto Sans TC"/>
                <a:cs typeface="Noto Sans TC"/>
                <a:sym typeface="Noto Sans TC"/>
              </a:rPr>
              <a:t>3</a:t>
            </a:r>
            <a:endParaRPr sz="1100" b="0" i="0" u="none" strike="noStrike" cap="none"/>
          </a:p>
        </p:txBody>
      </p:sp>
      <p:sp>
        <p:nvSpPr>
          <p:cNvPr id="142" name="Google Shape;142;p17"/>
          <p:cNvSpPr/>
          <p:nvPr/>
        </p:nvSpPr>
        <p:spPr>
          <a:xfrm>
            <a:off x="511373" y="3660577"/>
            <a:ext cx="6620708" cy="418147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655320" y="3754517"/>
            <a:ext cx="3018830" cy="230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5E98F1"/>
              </a:buClr>
              <a:buSzPts val="1100"/>
              <a:buFont typeface="Noto Sans TC"/>
              <a:buNone/>
            </a:pPr>
            <a:r>
              <a:rPr lang="en-US" sz="1100" b="0" i="0" u="none" strike="noStrike" cap="none">
                <a:solidFill>
                  <a:srgbClr val="5E98F1"/>
                </a:solidFill>
                <a:latin typeface="Noto Sans TC"/>
                <a:ea typeface="Noto Sans TC"/>
                <a:cs typeface="Noto Sans TC"/>
                <a:sym typeface="Noto Sans TC"/>
              </a:rPr>
              <a:t>Always</a:t>
            </a:r>
            <a:endParaRPr sz="1100" b="0" i="0" u="none" strike="noStrike" cap="none"/>
          </a:p>
        </p:txBody>
      </p:sp>
      <p:sp>
        <p:nvSpPr>
          <p:cNvPr id="144" name="Google Shape;144;p17"/>
          <p:cNvSpPr/>
          <p:nvPr/>
        </p:nvSpPr>
        <p:spPr>
          <a:xfrm>
            <a:off x="3969425" y="3754517"/>
            <a:ext cx="3018830" cy="230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5E98F1"/>
              </a:buClr>
              <a:buSzPts val="1100"/>
              <a:buFont typeface="Noto Sans TC"/>
              <a:buNone/>
            </a:pPr>
            <a:r>
              <a:rPr lang="en-US" sz="1100" b="0" i="0" u="none" strike="noStrike" cap="none">
                <a:solidFill>
                  <a:srgbClr val="5E98F1"/>
                </a:solidFill>
                <a:latin typeface="Noto Sans TC"/>
                <a:ea typeface="Noto Sans TC"/>
                <a:cs typeface="Noto Sans TC"/>
                <a:sym typeface="Noto Sans TC"/>
              </a:rPr>
              <a:t>4</a:t>
            </a:r>
            <a:endParaRPr sz="1100" b="0" i="0" u="none" strike="noStrike" cap="none"/>
          </a:p>
        </p:txBody>
      </p:sp>
      <p:pic>
        <p:nvPicPr>
          <p:cNvPr id="145" name="Google Shape;145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3753" y="4248150"/>
            <a:ext cx="2960489" cy="2682597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/>
          <p:nvPr/>
        </p:nvSpPr>
        <p:spPr>
          <a:xfrm>
            <a:off x="7498318" y="1219676"/>
            <a:ext cx="2468880" cy="224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1400"/>
              <a:buFont typeface="Sora"/>
              <a:buNone/>
            </a:pPr>
            <a:r>
              <a:rPr lang="en-US" sz="1400" b="0" i="0" u="none" strike="noStrike" cap="none">
                <a:solidFill>
                  <a:srgbClr val="97B8FF"/>
                </a:solidFill>
                <a:latin typeface="Sora"/>
                <a:ea typeface="Sora"/>
                <a:cs typeface="Sora"/>
                <a:sym typeface="Sora"/>
              </a:rPr>
              <a:t>Interpreting Anxiety Levels</a:t>
            </a:r>
            <a:endParaRPr sz="1400" b="0" i="0" u="none" strike="noStrike" cap="none"/>
          </a:p>
        </p:txBody>
      </p:sp>
      <p:sp>
        <p:nvSpPr>
          <p:cNvPr id="147" name="Google Shape;147;p17"/>
          <p:cNvSpPr/>
          <p:nvPr/>
        </p:nvSpPr>
        <p:spPr>
          <a:xfrm>
            <a:off x="7498318" y="1588294"/>
            <a:ext cx="6635948" cy="230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00"/>
              <a:buFont typeface="Noto Sans TC"/>
              <a:buNone/>
            </a:pPr>
            <a:r>
              <a:rPr lang="en-US" sz="1100" b="0" i="0" u="none" strike="noStrike" cap="non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A clear breakdown of anxiety based on the accumulated score percentage.</a:t>
            </a:r>
            <a:endParaRPr sz="1100" b="0" i="0" u="none" strike="noStrike" cap="none"/>
          </a:p>
        </p:txBody>
      </p:sp>
      <p:sp>
        <p:nvSpPr>
          <p:cNvPr id="148" name="Google Shape;148;p17"/>
          <p:cNvSpPr/>
          <p:nvPr/>
        </p:nvSpPr>
        <p:spPr>
          <a:xfrm>
            <a:off x="7498318" y="1980367"/>
            <a:ext cx="6635948" cy="917019"/>
          </a:xfrm>
          <a:prstGeom prst="roundRect">
            <a:avLst>
              <a:gd name="adj" fmla="val 7977"/>
            </a:avLst>
          </a:prstGeom>
          <a:solidFill>
            <a:srgbClr val="07070C"/>
          </a:solidFill>
          <a:ln w="15225" cap="flat" cmpd="sng">
            <a:solidFill>
              <a:srgbClr val="F2F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7483078" y="1980367"/>
            <a:ext cx="60960" cy="917019"/>
          </a:xfrm>
          <a:prstGeom prst="roundRect">
            <a:avLst>
              <a:gd name="adj" fmla="val 35416"/>
            </a:avLst>
          </a:prstGeom>
          <a:solidFill>
            <a:srgbClr val="F2F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7703106" y="2139434"/>
            <a:ext cx="1799034" cy="224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E98F1"/>
              </a:buClr>
              <a:buSzPts val="1400"/>
              <a:buFont typeface="Sora"/>
              <a:buNone/>
            </a:pPr>
            <a:r>
              <a:rPr lang="en-US" sz="1400" b="0" i="0" u="none" strike="noStrike" cap="none">
                <a:solidFill>
                  <a:srgbClr val="5E98F1"/>
                </a:solidFill>
                <a:latin typeface="Sora"/>
                <a:ea typeface="Sora"/>
                <a:cs typeface="Sora"/>
                <a:sym typeface="Sora"/>
              </a:rPr>
              <a:t>Low Anxiety</a:t>
            </a:r>
            <a:endParaRPr sz="1400" b="0" i="0" u="none" strike="noStrike" cap="none"/>
          </a:p>
        </p:txBody>
      </p:sp>
      <p:sp>
        <p:nvSpPr>
          <p:cNvPr id="151" name="Google Shape;151;p17"/>
          <p:cNvSpPr/>
          <p:nvPr/>
        </p:nvSpPr>
        <p:spPr>
          <a:xfrm>
            <a:off x="7703106" y="2508052"/>
            <a:ext cx="6272093" cy="230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5E98F1"/>
              </a:buClr>
              <a:buSzPts val="1100"/>
              <a:buFont typeface="Noto Sans TC"/>
              <a:buNone/>
            </a:pPr>
            <a:r>
              <a:rPr lang="en-US" sz="1100" b="0" i="0" u="none" strike="noStrike" cap="none">
                <a:solidFill>
                  <a:srgbClr val="5E98F1"/>
                </a:solidFill>
                <a:latin typeface="Noto Sans TC"/>
                <a:ea typeface="Noto Sans TC"/>
                <a:cs typeface="Noto Sans TC"/>
                <a:sym typeface="Noto Sans TC"/>
              </a:rPr>
              <a:t>&lt; 40%</a:t>
            </a:r>
            <a:endParaRPr sz="1100" b="0" i="0" u="none" strike="noStrike" cap="none"/>
          </a:p>
        </p:txBody>
      </p:sp>
      <p:sp>
        <p:nvSpPr>
          <p:cNvPr id="152" name="Google Shape;152;p17"/>
          <p:cNvSpPr/>
          <p:nvPr/>
        </p:nvSpPr>
        <p:spPr>
          <a:xfrm>
            <a:off x="7498318" y="3041213"/>
            <a:ext cx="6635948" cy="917019"/>
          </a:xfrm>
          <a:prstGeom prst="roundRect">
            <a:avLst>
              <a:gd name="adj" fmla="val 7977"/>
            </a:avLst>
          </a:prstGeom>
          <a:solidFill>
            <a:srgbClr val="07070C"/>
          </a:solidFill>
          <a:ln w="15225" cap="flat" cmpd="sng">
            <a:solidFill>
              <a:srgbClr val="F2F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7483078" y="3041213"/>
            <a:ext cx="60960" cy="917019"/>
          </a:xfrm>
          <a:prstGeom prst="roundRect">
            <a:avLst>
              <a:gd name="adj" fmla="val 35416"/>
            </a:avLst>
          </a:prstGeom>
          <a:solidFill>
            <a:srgbClr val="F2F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7703106" y="3200281"/>
            <a:ext cx="1799034" cy="224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E98F1"/>
              </a:buClr>
              <a:buSzPts val="1400"/>
              <a:buFont typeface="Sora"/>
              <a:buNone/>
            </a:pPr>
            <a:r>
              <a:rPr lang="en-US" sz="1400" b="0" i="0" u="none" strike="noStrike" cap="none">
                <a:solidFill>
                  <a:srgbClr val="5E98F1"/>
                </a:solidFill>
                <a:latin typeface="Sora"/>
                <a:ea typeface="Sora"/>
                <a:cs typeface="Sora"/>
                <a:sym typeface="Sora"/>
              </a:rPr>
              <a:t>Moderate Anxiety</a:t>
            </a:r>
            <a:endParaRPr sz="1400" b="0" i="0" u="none" strike="noStrike" cap="none"/>
          </a:p>
        </p:txBody>
      </p:sp>
      <p:sp>
        <p:nvSpPr>
          <p:cNvPr id="155" name="Google Shape;155;p17"/>
          <p:cNvSpPr/>
          <p:nvPr/>
        </p:nvSpPr>
        <p:spPr>
          <a:xfrm>
            <a:off x="7703106" y="3568898"/>
            <a:ext cx="6272093" cy="230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5E98F1"/>
              </a:buClr>
              <a:buSzPts val="1100"/>
              <a:buFont typeface="Noto Sans TC"/>
              <a:buNone/>
            </a:pPr>
            <a:r>
              <a:rPr lang="en-US" sz="1100" b="0" i="0" u="none" strike="noStrike" cap="none">
                <a:solidFill>
                  <a:srgbClr val="5E98F1"/>
                </a:solidFill>
                <a:latin typeface="Noto Sans TC"/>
                <a:ea typeface="Noto Sans TC"/>
                <a:cs typeface="Noto Sans TC"/>
                <a:sym typeface="Noto Sans TC"/>
              </a:rPr>
              <a:t>40 – 69%</a:t>
            </a:r>
            <a:endParaRPr sz="1100" b="0" i="0" u="none" strike="noStrike" cap="none"/>
          </a:p>
        </p:txBody>
      </p:sp>
      <p:sp>
        <p:nvSpPr>
          <p:cNvPr id="156" name="Google Shape;156;p17"/>
          <p:cNvSpPr/>
          <p:nvPr/>
        </p:nvSpPr>
        <p:spPr>
          <a:xfrm>
            <a:off x="7498318" y="4102060"/>
            <a:ext cx="6635948" cy="917019"/>
          </a:xfrm>
          <a:prstGeom prst="roundRect">
            <a:avLst>
              <a:gd name="adj" fmla="val 7977"/>
            </a:avLst>
          </a:prstGeom>
          <a:solidFill>
            <a:srgbClr val="07070C"/>
          </a:solidFill>
          <a:ln w="15225" cap="flat" cmpd="sng">
            <a:solidFill>
              <a:srgbClr val="F2F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7483078" y="4102060"/>
            <a:ext cx="60960" cy="917019"/>
          </a:xfrm>
          <a:prstGeom prst="roundRect">
            <a:avLst>
              <a:gd name="adj" fmla="val 35416"/>
            </a:avLst>
          </a:prstGeom>
          <a:solidFill>
            <a:srgbClr val="F2F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7703106" y="4261128"/>
            <a:ext cx="1799034" cy="224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E98F1"/>
              </a:buClr>
              <a:buSzPts val="1400"/>
              <a:buFont typeface="Sora"/>
              <a:buNone/>
            </a:pPr>
            <a:r>
              <a:rPr lang="en-US" sz="1400" b="0" i="0" u="none" strike="noStrike" cap="none">
                <a:solidFill>
                  <a:srgbClr val="5E98F1"/>
                </a:solidFill>
                <a:latin typeface="Sora"/>
                <a:ea typeface="Sora"/>
                <a:cs typeface="Sora"/>
                <a:sym typeface="Sora"/>
              </a:rPr>
              <a:t>High Anxiety</a:t>
            </a:r>
            <a:endParaRPr sz="1400" b="0" i="0" u="none" strike="noStrike" cap="none"/>
          </a:p>
        </p:txBody>
      </p:sp>
      <p:sp>
        <p:nvSpPr>
          <p:cNvPr id="159" name="Google Shape;159;p17"/>
          <p:cNvSpPr/>
          <p:nvPr/>
        </p:nvSpPr>
        <p:spPr>
          <a:xfrm>
            <a:off x="7703106" y="4629745"/>
            <a:ext cx="6272093" cy="230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5E98F1"/>
              </a:buClr>
              <a:buSzPts val="1100"/>
              <a:buFont typeface="Noto Sans TC"/>
              <a:buNone/>
            </a:pPr>
            <a:r>
              <a:rPr lang="en-US" sz="1100" b="0" i="0" u="none" strike="noStrike" cap="none">
                <a:solidFill>
                  <a:srgbClr val="5E98F1"/>
                </a:solidFill>
                <a:latin typeface="Noto Sans TC"/>
                <a:ea typeface="Noto Sans TC"/>
                <a:cs typeface="Noto Sans TC"/>
                <a:sym typeface="Noto Sans TC"/>
              </a:rPr>
              <a:t>≥ 70%</a:t>
            </a:r>
            <a:endParaRPr sz="1100" b="0" i="0" u="none" strike="noStrike" cap="none"/>
          </a:p>
        </p:txBody>
      </p:sp>
      <p:pic>
        <p:nvPicPr>
          <p:cNvPr id="160" name="Google Shape;160;p1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98318" y="5180886"/>
            <a:ext cx="2817614" cy="2476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/>
          <p:nvPr/>
        </p:nvSpPr>
        <p:spPr>
          <a:xfrm>
            <a:off x="528995" y="428030"/>
            <a:ext cx="8746212" cy="472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423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2950"/>
              <a:buFont typeface="Sora"/>
              <a:buNone/>
            </a:pPr>
            <a:r>
              <a:rPr lang="en-US" sz="2950" b="0" i="0" u="none" strike="noStrike" cap="none">
                <a:solidFill>
                  <a:srgbClr val="97B8FF"/>
                </a:solidFill>
                <a:latin typeface="Sora"/>
                <a:ea typeface="Sora"/>
                <a:cs typeface="Sora"/>
                <a:sym typeface="Sora"/>
              </a:rPr>
              <a:t>Empowering Action: Suggestions &amp; Feedback</a:t>
            </a:r>
            <a:endParaRPr sz="2950" b="0" i="0" u="none" strike="noStrike" cap="none"/>
          </a:p>
        </p:txBody>
      </p:sp>
      <p:sp>
        <p:nvSpPr>
          <p:cNvPr id="167" name="Google Shape;167;p18"/>
          <p:cNvSpPr/>
          <p:nvPr/>
        </p:nvSpPr>
        <p:spPr>
          <a:xfrm>
            <a:off x="528995" y="1278136"/>
            <a:ext cx="3108960" cy="236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1450"/>
              <a:buFont typeface="Sora"/>
              <a:buNone/>
            </a:pPr>
            <a:r>
              <a:rPr lang="en-US" sz="1450" b="0" i="0" u="none" strike="noStrike" cap="none">
                <a:solidFill>
                  <a:srgbClr val="97B8FF"/>
                </a:solidFill>
                <a:latin typeface="Sora"/>
                <a:ea typeface="Sora"/>
                <a:cs typeface="Sora"/>
                <a:sym typeface="Sora"/>
              </a:rPr>
              <a:t>Personalised Study Suggestions</a:t>
            </a:r>
            <a:endParaRPr sz="1450" b="0" i="0" u="none" strike="noStrike" cap="none"/>
          </a:p>
        </p:txBody>
      </p:sp>
      <p:sp>
        <p:nvSpPr>
          <p:cNvPr id="168" name="Google Shape;168;p18"/>
          <p:cNvSpPr/>
          <p:nvPr/>
        </p:nvSpPr>
        <p:spPr>
          <a:xfrm>
            <a:off x="528995" y="1665327"/>
            <a:ext cx="6601897" cy="241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521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Noto Sans TC"/>
              <a:buNone/>
            </a:pPr>
            <a:r>
              <a:rPr lang="en-US" sz="1150" b="0" i="0" u="none" strike="noStrike" cap="non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Tailored advice to mitigate anxiety and foster effective learning.</a:t>
            </a:r>
            <a:endParaRPr sz="1150" b="0" i="0" u="none" strike="noStrike" cap="none"/>
          </a:p>
        </p:txBody>
      </p:sp>
      <p:sp>
        <p:nvSpPr>
          <p:cNvPr id="169" name="Google Shape;169;p18"/>
          <p:cNvSpPr/>
          <p:nvPr/>
        </p:nvSpPr>
        <p:spPr>
          <a:xfrm>
            <a:off x="528995" y="2077045"/>
            <a:ext cx="6601897" cy="1535549"/>
          </a:xfrm>
          <a:prstGeom prst="roundRect">
            <a:avLst>
              <a:gd name="adj" fmla="val 1476"/>
            </a:avLst>
          </a:prstGeom>
          <a:solidFill>
            <a:srgbClr val="2626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680085" y="2228136"/>
            <a:ext cx="453390" cy="453390"/>
          </a:xfrm>
          <a:prstGeom prst="roundRect">
            <a:avLst>
              <a:gd name="adj" fmla="val 20166050"/>
            </a:avLst>
          </a:prstGeom>
          <a:solidFill>
            <a:srgbClr val="F2F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1" name="Google Shape;171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4743" y="2352794"/>
            <a:ext cx="203954" cy="203954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/>
          <p:nvPr/>
        </p:nvSpPr>
        <p:spPr>
          <a:xfrm>
            <a:off x="680085" y="2832616"/>
            <a:ext cx="1889284" cy="236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Sora"/>
              <a:buNone/>
            </a:pPr>
            <a:r>
              <a:rPr lang="en-US" sz="1450" b="0" i="0" u="none" strike="noStrike" cap="none">
                <a:solidFill>
                  <a:srgbClr val="E0D6DE"/>
                </a:solidFill>
                <a:latin typeface="Sora"/>
                <a:ea typeface="Sora"/>
                <a:cs typeface="Sora"/>
                <a:sym typeface="Sora"/>
              </a:rPr>
              <a:t>High Anxiety</a:t>
            </a:r>
            <a:endParaRPr sz="1450" b="0" i="0" u="none" strike="noStrike" cap="none"/>
          </a:p>
        </p:txBody>
      </p:sp>
      <p:sp>
        <p:nvSpPr>
          <p:cNvPr id="173" name="Google Shape;173;p18"/>
          <p:cNvSpPr/>
          <p:nvPr/>
        </p:nvSpPr>
        <p:spPr>
          <a:xfrm>
            <a:off x="680085" y="3219807"/>
            <a:ext cx="6299716" cy="241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521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Noto Sans TC"/>
              <a:buNone/>
            </a:pPr>
            <a:r>
              <a:rPr lang="en-US" sz="1150" b="0" i="0" u="none" strike="noStrike" cap="non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Reduce pressure, ensure proper sleep, explore relaxation techniques.</a:t>
            </a:r>
            <a:endParaRPr sz="1150" b="0" i="0" u="none" strike="noStrike" cap="none"/>
          </a:p>
        </p:txBody>
      </p:sp>
      <p:sp>
        <p:nvSpPr>
          <p:cNvPr id="174" name="Google Shape;174;p18"/>
          <p:cNvSpPr/>
          <p:nvPr/>
        </p:nvSpPr>
        <p:spPr>
          <a:xfrm>
            <a:off x="528995" y="3763685"/>
            <a:ext cx="6601897" cy="1535549"/>
          </a:xfrm>
          <a:prstGeom prst="roundRect">
            <a:avLst>
              <a:gd name="adj" fmla="val 1476"/>
            </a:avLst>
          </a:prstGeom>
          <a:solidFill>
            <a:srgbClr val="2626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680085" y="3914775"/>
            <a:ext cx="453390" cy="453390"/>
          </a:xfrm>
          <a:prstGeom prst="roundRect">
            <a:avLst>
              <a:gd name="adj" fmla="val 20166050"/>
            </a:avLst>
          </a:prstGeom>
          <a:solidFill>
            <a:srgbClr val="F2F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6" name="Google Shape;176;p1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4743" y="4039433"/>
            <a:ext cx="203954" cy="20395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/>
          <p:nvPr/>
        </p:nvSpPr>
        <p:spPr>
          <a:xfrm>
            <a:off x="680085" y="4519255"/>
            <a:ext cx="1889284" cy="236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Sora"/>
              <a:buNone/>
            </a:pPr>
            <a:r>
              <a:rPr lang="en-US" sz="1450" b="0" i="0" u="none" strike="noStrike" cap="none">
                <a:solidFill>
                  <a:srgbClr val="E0D6DE"/>
                </a:solidFill>
                <a:latin typeface="Sora"/>
                <a:ea typeface="Sora"/>
                <a:cs typeface="Sora"/>
                <a:sym typeface="Sora"/>
              </a:rPr>
              <a:t>Moderate Anxiety</a:t>
            </a:r>
            <a:endParaRPr sz="1450" b="0" i="0" u="none" strike="noStrike" cap="none"/>
          </a:p>
        </p:txBody>
      </p:sp>
      <p:sp>
        <p:nvSpPr>
          <p:cNvPr id="178" name="Google Shape;178;p18"/>
          <p:cNvSpPr/>
          <p:nvPr/>
        </p:nvSpPr>
        <p:spPr>
          <a:xfrm>
            <a:off x="680085" y="4906447"/>
            <a:ext cx="6299716" cy="241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521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Noto Sans TC"/>
              <a:buNone/>
            </a:pPr>
            <a:r>
              <a:rPr lang="en-US" sz="1150" b="0" i="0" u="none" strike="noStrike" cap="non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Improve time management, integrate regular breaks, avoid last-minute study.</a:t>
            </a:r>
            <a:endParaRPr sz="1150" b="0" i="0" u="none" strike="noStrike" cap="none"/>
          </a:p>
        </p:txBody>
      </p:sp>
      <p:sp>
        <p:nvSpPr>
          <p:cNvPr id="179" name="Google Shape;179;p18"/>
          <p:cNvSpPr/>
          <p:nvPr/>
        </p:nvSpPr>
        <p:spPr>
          <a:xfrm>
            <a:off x="528995" y="5450324"/>
            <a:ext cx="6601897" cy="1535549"/>
          </a:xfrm>
          <a:prstGeom prst="roundRect">
            <a:avLst>
              <a:gd name="adj" fmla="val 1476"/>
            </a:avLst>
          </a:prstGeom>
          <a:solidFill>
            <a:srgbClr val="2626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680085" y="5601414"/>
            <a:ext cx="453390" cy="453390"/>
          </a:xfrm>
          <a:prstGeom prst="roundRect">
            <a:avLst>
              <a:gd name="adj" fmla="val 20166050"/>
            </a:avLst>
          </a:prstGeom>
          <a:solidFill>
            <a:srgbClr val="F2F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1" name="Google Shape;181;p1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4743" y="5726073"/>
            <a:ext cx="203954" cy="203954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/>
          <p:cNvSpPr/>
          <p:nvPr/>
        </p:nvSpPr>
        <p:spPr>
          <a:xfrm>
            <a:off x="680085" y="6205895"/>
            <a:ext cx="1889284" cy="236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Sora"/>
              <a:buNone/>
            </a:pPr>
            <a:r>
              <a:rPr lang="en-US" sz="1450" b="0" i="0" u="none" strike="noStrike" cap="none">
                <a:solidFill>
                  <a:srgbClr val="E0D6DE"/>
                </a:solidFill>
                <a:latin typeface="Sora"/>
                <a:ea typeface="Sora"/>
                <a:cs typeface="Sora"/>
                <a:sym typeface="Sora"/>
              </a:rPr>
              <a:t>Low Anxiety</a:t>
            </a:r>
            <a:endParaRPr sz="1450" b="0" i="0" u="none" strike="noStrike" cap="none"/>
          </a:p>
        </p:txBody>
      </p:sp>
      <p:sp>
        <p:nvSpPr>
          <p:cNvPr id="183" name="Google Shape;183;p18"/>
          <p:cNvSpPr/>
          <p:nvPr/>
        </p:nvSpPr>
        <p:spPr>
          <a:xfrm>
            <a:off x="680085" y="6593086"/>
            <a:ext cx="6299716" cy="241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521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Noto Sans TC"/>
              <a:buNone/>
            </a:pPr>
            <a:r>
              <a:rPr lang="en-US" sz="1150" b="0" i="0" u="none" strike="noStrike" cap="non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Maintain consistent routines, reinforce good study habits.</a:t>
            </a:r>
            <a:endParaRPr sz="1150" b="0" i="0" u="none" strike="noStrike" cap="none"/>
          </a:p>
        </p:txBody>
      </p:sp>
      <p:sp>
        <p:nvSpPr>
          <p:cNvPr id="184" name="Google Shape;184;p18"/>
          <p:cNvSpPr/>
          <p:nvPr/>
        </p:nvSpPr>
        <p:spPr>
          <a:xfrm>
            <a:off x="7507129" y="1278136"/>
            <a:ext cx="2294215" cy="236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1450"/>
              <a:buFont typeface="Sora"/>
              <a:buNone/>
            </a:pPr>
            <a:r>
              <a:rPr lang="en-US" sz="1450" b="0" i="0" u="none" strike="noStrike" cap="none">
                <a:solidFill>
                  <a:srgbClr val="97B8FF"/>
                </a:solidFill>
                <a:latin typeface="Sora"/>
                <a:ea typeface="Sora"/>
                <a:cs typeface="Sora"/>
                <a:sym typeface="Sora"/>
              </a:rPr>
              <a:t>Valuable User Feedback</a:t>
            </a:r>
            <a:endParaRPr sz="1450" b="0" i="0" u="none" strike="noStrike" cap="none"/>
          </a:p>
        </p:txBody>
      </p:sp>
      <p:sp>
        <p:nvSpPr>
          <p:cNvPr id="185" name="Google Shape;185;p18"/>
          <p:cNvSpPr/>
          <p:nvPr/>
        </p:nvSpPr>
        <p:spPr>
          <a:xfrm>
            <a:off x="7507129" y="1665327"/>
            <a:ext cx="6601897" cy="241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521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Noto Sans TC"/>
              <a:buNone/>
            </a:pPr>
            <a:r>
              <a:rPr lang="en-US" sz="1150" b="0" i="0" u="none" strike="noStrike" cap="non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Crucial for understanding user satisfaction and driving future enhancements.</a:t>
            </a:r>
            <a:endParaRPr sz="1150" b="0" i="0" u="none" strike="noStrike" cap="none"/>
          </a:p>
        </p:txBody>
      </p:sp>
      <p:sp>
        <p:nvSpPr>
          <p:cNvPr id="186" name="Google Shape;186;p18"/>
          <p:cNvSpPr/>
          <p:nvPr/>
        </p:nvSpPr>
        <p:spPr>
          <a:xfrm>
            <a:off x="7507129" y="2077045"/>
            <a:ext cx="6601897" cy="1112758"/>
          </a:xfrm>
          <a:prstGeom prst="roundRect">
            <a:avLst>
              <a:gd name="adj" fmla="val 2037"/>
            </a:avLst>
          </a:prstGeom>
          <a:solidFill>
            <a:srgbClr val="07070C"/>
          </a:solidFill>
          <a:ln w="15225" cap="flat" cmpd="sng">
            <a:solidFill>
              <a:srgbClr val="3F3F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7" name="Google Shape;187;p1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431762" y="2001679"/>
            <a:ext cx="181332" cy="181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003060" y="3083838"/>
            <a:ext cx="181332" cy="18133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8"/>
          <p:cNvSpPr/>
          <p:nvPr/>
        </p:nvSpPr>
        <p:spPr>
          <a:xfrm>
            <a:off x="7749064" y="2318980"/>
            <a:ext cx="1889284" cy="236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Sora"/>
              <a:buNone/>
            </a:pPr>
            <a:r>
              <a:rPr lang="en-US" sz="1450" b="0" i="0" u="none" strike="noStrike" cap="none">
                <a:solidFill>
                  <a:srgbClr val="E0D6DE"/>
                </a:solidFill>
                <a:latin typeface="Sora"/>
                <a:ea typeface="Sora"/>
                <a:cs typeface="Sora"/>
                <a:sym typeface="Sora"/>
              </a:rPr>
              <a:t>Satisfaction Rating</a:t>
            </a:r>
            <a:endParaRPr sz="1450" b="0" i="0" u="none" strike="noStrike" cap="none"/>
          </a:p>
        </p:txBody>
      </p:sp>
      <p:sp>
        <p:nvSpPr>
          <p:cNvPr id="190" name="Google Shape;190;p18"/>
          <p:cNvSpPr/>
          <p:nvPr/>
        </p:nvSpPr>
        <p:spPr>
          <a:xfrm>
            <a:off x="7749064" y="2706172"/>
            <a:ext cx="6118027" cy="241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521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Noto Sans TC"/>
              <a:buNone/>
            </a:pPr>
            <a:r>
              <a:rPr lang="en-US" sz="1150" b="0" i="0" u="none" strike="noStrike" cap="non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Users provide a rating from 1 to 5 stars, indicating overall experience.</a:t>
            </a:r>
            <a:endParaRPr sz="1150" b="0" i="0" u="none" strike="noStrike" cap="none"/>
          </a:p>
        </p:txBody>
      </p:sp>
      <p:sp>
        <p:nvSpPr>
          <p:cNvPr id="191" name="Google Shape;191;p18"/>
          <p:cNvSpPr/>
          <p:nvPr/>
        </p:nvSpPr>
        <p:spPr>
          <a:xfrm>
            <a:off x="7507129" y="3340894"/>
            <a:ext cx="6601897" cy="1354455"/>
          </a:xfrm>
          <a:prstGeom prst="roundRect">
            <a:avLst>
              <a:gd name="adj" fmla="val 1674"/>
            </a:avLst>
          </a:prstGeom>
          <a:solidFill>
            <a:srgbClr val="07070C"/>
          </a:solidFill>
          <a:ln w="15225" cap="flat" cmpd="sng">
            <a:solidFill>
              <a:srgbClr val="3F3F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2" name="Google Shape;192;p1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431762" y="3265527"/>
            <a:ext cx="181332" cy="181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003060" y="4589383"/>
            <a:ext cx="181332" cy="181332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8"/>
          <p:cNvSpPr/>
          <p:nvPr/>
        </p:nvSpPr>
        <p:spPr>
          <a:xfrm>
            <a:off x="7749064" y="3582829"/>
            <a:ext cx="1889284" cy="236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Sora"/>
              <a:buNone/>
            </a:pPr>
            <a:r>
              <a:rPr lang="en-US" sz="1450" b="0" i="0" u="none" strike="noStrike" cap="none">
                <a:solidFill>
                  <a:srgbClr val="E0D6DE"/>
                </a:solidFill>
                <a:latin typeface="Sora"/>
                <a:ea typeface="Sora"/>
                <a:cs typeface="Sora"/>
                <a:sym typeface="Sora"/>
              </a:rPr>
              <a:t>User Comments</a:t>
            </a:r>
            <a:endParaRPr sz="1450" b="0" i="0" u="none" strike="noStrike" cap="none"/>
          </a:p>
        </p:txBody>
      </p:sp>
      <p:sp>
        <p:nvSpPr>
          <p:cNvPr id="195" name="Google Shape;195;p18"/>
          <p:cNvSpPr/>
          <p:nvPr/>
        </p:nvSpPr>
        <p:spPr>
          <a:xfrm>
            <a:off x="7749064" y="3970020"/>
            <a:ext cx="6118027" cy="483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521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Noto Sans TC"/>
              <a:buNone/>
            </a:pPr>
            <a:r>
              <a:rPr lang="en-US" sz="1150" b="0" i="0" u="none" strike="noStrike" cap="non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Qualitative feedback is collected, ensuring thoughtful, descriptive input rather than just numerical values.</a:t>
            </a:r>
            <a:endParaRPr sz="1150" b="0" i="0" u="none" strike="noStrike" cap="none"/>
          </a:p>
        </p:txBody>
      </p:sp>
      <p:pic>
        <p:nvPicPr>
          <p:cNvPr id="196" name="Google Shape;196;p18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507129" y="4865370"/>
            <a:ext cx="3108841" cy="27661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1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/>
          <p:nvPr/>
        </p:nvSpPr>
        <p:spPr>
          <a:xfrm>
            <a:off x="6280190" y="1034534"/>
            <a:ext cx="7556421" cy="2126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4450"/>
              <a:buFont typeface="Sora"/>
              <a:buNone/>
            </a:pPr>
            <a:r>
              <a:rPr lang="en-US" sz="4450" b="0" i="0" u="none" strike="noStrike" cap="none">
                <a:solidFill>
                  <a:srgbClr val="97B8FF"/>
                </a:solidFill>
                <a:latin typeface="Sora"/>
                <a:ea typeface="Sora"/>
                <a:cs typeface="Sora"/>
                <a:sym typeface="Sora"/>
              </a:rPr>
              <a:t>Key Takeaways: Robust Design, Real-World Impact</a:t>
            </a:r>
            <a:endParaRPr sz="4450" b="0" i="0" u="none" strike="noStrike" cap="none"/>
          </a:p>
        </p:txBody>
      </p:sp>
      <p:sp>
        <p:nvSpPr>
          <p:cNvPr id="204" name="Google Shape;204;p19"/>
          <p:cNvSpPr/>
          <p:nvPr/>
        </p:nvSpPr>
        <p:spPr>
          <a:xfrm>
            <a:off x="6280190" y="3501033"/>
            <a:ext cx="7556421" cy="3694033"/>
          </a:xfrm>
          <a:prstGeom prst="roundRect">
            <a:avLst>
              <a:gd name="adj" fmla="val 921"/>
            </a:avLst>
          </a:prstGeom>
          <a:solidFill>
            <a:srgbClr val="2626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9"/>
          <p:cNvSpPr/>
          <p:nvPr/>
        </p:nvSpPr>
        <p:spPr>
          <a:xfrm>
            <a:off x="6280190" y="3501033"/>
            <a:ext cx="3778210" cy="2024182"/>
          </a:xfrm>
          <a:prstGeom prst="roundRect">
            <a:avLst>
              <a:gd name="adj" fmla="val 1681"/>
            </a:avLst>
          </a:prstGeom>
          <a:solidFill>
            <a:srgbClr val="F2F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9"/>
          <p:cNvSpPr/>
          <p:nvPr/>
        </p:nvSpPr>
        <p:spPr>
          <a:xfrm>
            <a:off x="6507004" y="3727847"/>
            <a:ext cx="3016210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Sora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Modular OOP Design</a:t>
            </a:r>
            <a:endParaRPr sz="2200" b="0" i="0" u="none" strike="noStrike" cap="none"/>
          </a:p>
        </p:txBody>
      </p:sp>
      <p:sp>
        <p:nvSpPr>
          <p:cNvPr id="207" name="Google Shape;207;p19"/>
          <p:cNvSpPr/>
          <p:nvPr/>
        </p:nvSpPr>
        <p:spPr>
          <a:xfrm>
            <a:off x="6507004" y="4218265"/>
            <a:ext cx="3324582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Noto Sans TC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Ensures ease of maintenance, extensibility, and collaboration.</a:t>
            </a:r>
            <a:endParaRPr sz="1750" b="0" i="0" u="none" strike="noStrike" cap="none"/>
          </a:p>
        </p:txBody>
      </p:sp>
      <p:sp>
        <p:nvSpPr>
          <p:cNvPr id="208" name="Google Shape;208;p19"/>
          <p:cNvSpPr/>
          <p:nvPr/>
        </p:nvSpPr>
        <p:spPr>
          <a:xfrm>
            <a:off x="10058400" y="3501033"/>
            <a:ext cx="3778210" cy="2024182"/>
          </a:xfrm>
          <a:prstGeom prst="rect">
            <a:avLst/>
          </a:prstGeom>
          <a:solidFill>
            <a:srgbClr val="F2F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9"/>
          <p:cNvSpPr/>
          <p:nvPr/>
        </p:nvSpPr>
        <p:spPr>
          <a:xfrm>
            <a:off x="10058400" y="3501033"/>
            <a:ext cx="30480" cy="2024182"/>
          </a:xfrm>
          <a:prstGeom prst="roundRect">
            <a:avLst>
              <a:gd name="adj" fmla="val 111628"/>
            </a:avLst>
          </a:prstGeom>
          <a:solidFill>
            <a:srgbClr val="D8D8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9"/>
          <p:cNvSpPr/>
          <p:nvPr/>
        </p:nvSpPr>
        <p:spPr>
          <a:xfrm>
            <a:off x="10285214" y="3727847"/>
            <a:ext cx="3324582" cy="70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Sora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Interactive Console-Based</a:t>
            </a:r>
            <a:endParaRPr sz="2200" b="0" i="0" u="none" strike="noStrike" cap="none"/>
          </a:p>
        </p:txBody>
      </p:sp>
      <p:sp>
        <p:nvSpPr>
          <p:cNvPr id="211" name="Google Shape;211;p19"/>
          <p:cNvSpPr/>
          <p:nvPr/>
        </p:nvSpPr>
        <p:spPr>
          <a:xfrm>
            <a:off x="10285214" y="4572595"/>
            <a:ext cx="3324582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Noto Sans TC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Provides direct, accessible engagement for all users.</a:t>
            </a:r>
            <a:endParaRPr sz="1750" b="0" i="0" u="none" strike="noStrike" cap="none"/>
          </a:p>
        </p:txBody>
      </p:sp>
      <p:sp>
        <p:nvSpPr>
          <p:cNvPr id="212" name="Google Shape;212;p19"/>
          <p:cNvSpPr/>
          <p:nvPr/>
        </p:nvSpPr>
        <p:spPr>
          <a:xfrm>
            <a:off x="6280190" y="5525214"/>
            <a:ext cx="7556421" cy="1669852"/>
          </a:xfrm>
          <a:prstGeom prst="rect">
            <a:avLst/>
          </a:prstGeom>
          <a:solidFill>
            <a:srgbClr val="F2F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9"/>
          <p:cNvSpPr/>
          <p:nvPr/>
        </p:nvSpPr>
        <p:spPr>
          <a:xfrm>
            <a:off x="6280190" y="5525214"/>
            <a:ext cx="7556421" cy="30480"/>
          </a:xfrm>
          <a:prstGeom prst="roundRect">
            <a:avLst>
              <a:gd name="adj" fmla="val 111628"/>
            </a:avLst>
          </a:prstGeom>
          <a:solidFill>
            <a:srgbClr val="D8D8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9"/>
          <p:cNvSpPr/>
          <p:nvPr/>
        </p:nvSpPr>
        <p:spPr>
          <a:xfrm>
            <a:off x="6507004" y="575202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Sora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Actionable Insights</a:t>
            </a:r>
            <a:endParaRPr sz="2200" b="0" i="0" u="none" strike="noStrike" cap="none"/>
          </a:p>
        </p:txBody>
      </p:sp>
      <p:sp>
        <p:nvSpPr>
          <p:cNvPr id="215" name="Google Shape;215;p19"/>
          <p:cNvSpPr/>
          <p:nvPr/>
        </p:nvSpPr>
        <p:spPr>
          <a:xfrm>
            <a:off x="6507004" y="6242447"/>
            <a:ext cx="7102793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Noto Sans TC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Empowers students with practical guidance for academic well-being.</a:t>
            </a:r>
            <a:endParaRPr sz="1750" b="0" i="0" u="none" strike="noStrike" cap="non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"/>
          <p:cNvSpPr/>
          <p:nvPr/>
        </p:nvSpPr>
        <p:spPr>
          <a:xfrm>
            <a:off x="793790" y="942023"/>
            <a:ext cx="10672167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4450"/>
              <a:buFont typeface="Sora"/>
              <a:buNone/>
            </a:pPr>
            <a:r>
              <a:rPr lang="en-US" sz="4450" b="0" i="0" u="none" strike="noStrike" cap="none">
                <a:solidFill>
                  <a:srgbClr val="97B8FF"/>
                </a:solidFill>
                <a:latin typeface="Sora"/>
                <a:ea typeface="Sora"/>
                <a:cs typeface="Sora"/>
                <a:sym typeface="Sora"/>
              </a:rPr>
              <a:t>Future Horizons: Expanding Potential</a:t>
            </a:r>
            <a:endParaRPr sz="4450" b="0" i="0" u="none" strike="noStrike" cap="none"/>
          </a:p>
        </p:txBody>
      </p:sp>
      <p:sp>
        <p:nvSpPr>
          <p:cNvPr id="222" name="Google Shape;222;p20"/>
          <p:cNvSpPr/>
          <p:nvPr/>
        </p:nvSpPr>
        <p:spPr>
          <a:xfrm>
            <a:off x="793790" y="2104430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Noto Sans TC"/>
              <a:buNone/>
            </a:pPr>
            <a:r>
              <a:rPr lang="en-US" sz="1750" b="0" i="0" u="none" strike="noStrike" cap="non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Our vision for the Study Anxiety Calculator extends beyond its current capabilities.</a:t>
            </a:r>
            <a:endParaRPr sz="1750" b="0" i="0" u="none" strike="noStrike" cap="none"/>
          </a:p>
        </p:txBody>
      </p:sp>
      <p:sp>
        <p:nvSpPr>
          <p:cNvPr id="223" name="Google Shape;223;p20"/>
          <p:cNvSpPr/>
          <p:nvPr/>
        </p:nvSpPr>
        <p:spPr>
          <a:xfrm>
            <a:off x="1707833" y="4215408"/>
            <a:ext cx="2871192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Sora"/>
              <a:buNone/>
            </a:pPr>
            <a:r>
              <a:rPr lang="en-US" sz="2200" b="0" i="0" u="none" strike="noStrike" cap="none">
                <a:solidFill>
                  <a:srgbClr val="E0D6DE"/>
                </a:solidFill>
                <a:latin typeface="Sora"/>
                <a:ea typeface="Sora"/>
                <a:cs typeface="Sora"/>
                <a:sym typeface="Sora"/>
              </a:rPr>
              <a:t>Advanced Analytics</a:t>
            </a:r>
            <a:endParaRPr sz="2200" b="0" i="0" u="none" strike="noStrike" cap="none"/>
          </a:p>
        </p:txBody>
      </p:sp>
      <p:sp>
        <p:nvSpPr>
          <p:cNvPr id="224" name="Google Shape;224;p20"/>
          <p:cNvSpPr/>
          <p:nvPr/>
        </p:nvSpPr>
        <p:spPr>
          <a:xfrm>
            <a:off x="793790" y="4705826"/>
            <a:ext cx="3785235" cy="108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Noto Sans TC"/>
              <a:buNone/>
            </a:pPr>
            <a:r>
              <a:rPr lang="en-US" sz="1750" b="0" i="0" u="none" strike="noStrike" cap="non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In-depth data visualisations to identify broader trends in student anxiety.</a:t>
            </a:r>
            <a:endParaRPr sz="1750" b="0" i="0" u="none" strike="noStrike" cap="none"/>
          </a:p>
        </p:txBody>
      </p:sp>
      <p:pic>
        <p:nvPicPr>
          <p:cNvPr id="225" name="Google Shape;225;p2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32653" y="2722483"/>
            <a:ext cx="4564975" cy="456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71411" y="4560451"/>
            <a:ext cx="339328" cy="339328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0"/>
          <p:cNvSpPr/>
          <p:nvPr/>
        </p:nvSpPr>
        <p:spPr>
          <a:xfrm>
            <a:off x="9937790" y="2900482"/>
            <a:ext cx="3516987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Sora"/>
              <a:buNone/>
            </a:pPr>
            <a:r>
              <a:rPr lang="en-US" sz="2200" b="0" i="0" u="none" strike="noStrike" cap="none">
                <a:solidFill>
                  <a:srgbClr val="E0D6DE"/>
                </a:solidFill>
                <a:latin typeface="Sora"/>
                <a:ea typeface="Sora"/>
                <a:cs typeface="Sora"/>
                <a:sym typeface="Sora"/>
              </a:rPr>
              <a:t>Comprehensive Reports</a:t>
            </a:r>
            <a:endParaRPr sz="2200" b="0" i="0" u="none" strike="noStrike" cap="none"/>
          </a:p>
        </p:txBody>
      </p:sp>
      <p:sp>
        <p:nvSpPr>
          <p:cNvPr id="228" name="Google Shape;228;p20"/>
          <p:cNvSpPr/>
          <p:nvPr/>
        </p:nvSpPr>
        <p:spPr>
          <a:xfrm>
            <a:off x="9937790" y="3390900"/>
            <a:ext cx="3898821" cy="108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Noto Sans TC"/>
              <a:buNone/>
            </a:pPr>
            <a:r>
              <a:rPr lang="en-US" sz="1750" b="0" i="0" u="none" strike="noStrike" cap="non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Automated generation of detailed reports for individuals and institutions.</a:t>
            </a:r>
            <a:endParaRPr sz="1750" b="0" i="0" u="none" strike="noStrike" cap="none"/>
          </a:p>
        </p:txBody>
      </p:sp>
      <p:pic>
        <p:nvPicPr>
          <p:cNvPr id="229" name="Google Shape;229;p2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32653" y="2722483"/>
            <a:ext cx="4564975" cy="456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0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70307" y="3609380"/>
            <a:ext cx="339328" cy="339328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0"/>
          <p:cNvSpPr/>
          <p:nvPr/>
        </p:nvSpPr>
        <p:spPr>
          <a:xfrm>
            <a:off x="9937790" y="5175885"/>
            <a:ext cx="3898821" cy="70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Sora"/>
              <a:buNone/>
            </a:pPr>
            <a:r>
              <a:rPr lang="en-US" sz="2200" b="0" i="0" u="none" strike="noStrike" cap="none">
                <a:solidFill>
                  <a:srgbClr val="E0D6DE"/>
                </a:solidFill>
                <a:latin typeface="Sora"/>
                <a:ea typeface="Sora"/>
                <a:cs typeface="Sora"/>
                <a:sym typeface="Sora"/>
              </a:rPr>
              <a:t>Graphical User Interface (GUI)</a:t>
            </a:r>
            <a:endParaRPr sz="2200" b="0" i="0" u="none" strike="noStrike" cap="none"/>
          </a:p>
        </p:txBody>
      </p:sp>
      <p:sp>
        <p:nvSpPr>
          <p:cNvPr id="232" name="Google Shape;232;p20"/>
          <p:cNvSpPr/>
          <p:nvPr/>
        </p:nvSpPr>
        <p:spPr>
          <a:xfrm>
            <a:off x="9937790" y="6020633"/>
            <a:ext cx="3898821" cy="108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Noto Sans TC"/>
              <a:buNone/>
            </a:pPr>
            <a:r>
              <a:rPr lang="en-US" sz="1750" b="0" i="0" u="none" strike="noStrike" cap="non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Development of an intuitive, visually rich interface for enhanced user experience.</a:t>
            </a:r>
            <a:endParaRPr sz="1750" b="0" i="0" u="none" strike="noStrike" cap="none"/>
          </a:p>
        </p:txBody>
      </p:sp>
      <p:pic>
        <p:nvPicPr>
          <p:cNvPr id="233" name="Google Shape;233;p20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32653" y="2722483"/>
            <a:ext cx="4564975" cy="456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0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94533" y="6335554"/>
            <a:ext cx="339328" cy="339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283523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1"/>
          <p:cNvSpPr/>
          <p:nvPr/>
        </p:nvSpPr>
        <p:spPr>
          <a:xfrm>
            <a:off x="793790" y="3726418"/>
            <a:ext cx="13042821" cy="1417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4450"/>
              <a:buFont typeface="Sora"/>
              <a:buNone/>
            </a:pPr>
            <a:r>
              <a:rPr lang="en-US" sz="4450" b="0" i="0" u="none" strike="noStrike" cap="none">
                <a:solidFill>
                  <a:srgbClr val="97B8FF"/>
                </a:solidFill>
                <a:latin typeface="Sora"/>
                <a:ea typeface="Sora"/>
                <a:cs typeface="Sora"/>
                <a:sym typeface="Sora"/>
              </a:rPr>
              <a:t>Why This Matters: Supporting Student Well-being</a:t>
            </a:r>
            <a:endParaRPr sz="4450" b="0" i="0" u="none" strike="noStrike" cap="none"/>
          </a:p>
        </p:txBody>
      </p:sp>
      <p:sp>
        <p:nvSpPr>
          <p:cNvPr id="242" name="Google Shape;242;p21"/>
          <p:cNvSpPr/>
          <p:nvPr/>
        </p:nvSpPr>
        <p:spPr>
          <a:xfrm>
            <a:off x="1133951" y="5739289"/>
            <a:ext cx="12702659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Noto Sans TC"/>
              <a:buNone/>
            </a:pPr>
            <a:r>
              <a:rPr lang="en-US" sz="1750" b="0" i="0" u="none" strike="noStrike" cap="non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Addressing study anxiety isn't just about academic performance; it's about fostering a healthier, more balanced learning environment for every student. Our tool provides a critical step towards this goal.</a:t>
            </a:r>
            <a:endParaRPr sz="1750" b="0" i="0" u="none" strike="noStrike" cap="none"/>
          </a:p>
        </p:txBody>
      </p:sp>
      <p:sp>
        <p:nvSpPr>
          <p:cNvPr id="243" name="Google Shape;243;p21"/>
          <p:cNvSpPr/>
          <p:nvPr/>
        </p:nvSpPr>
        <p:spPr>
          <a:xfrm>
            <a:off x="793790" y="5484138"/>
            <a:ext cx="30480" cy="1236107"/>
          </a:xfrm>
          <a:prstGeom prst="rect">
            <a:avLst/>
          </a:prstGeom>
          <a:solidFill>
            <a:srgbClr val="97B8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21"/>
          <p:cNvSpPr/>
          <p:nvPr/>
        </p:nvSpPr>
        <p:spPr>
          <a:xfrm>
            <a:off x="793790" y="6975396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Noto Sans TC"/>
              <a:buNone/>
            </a:pPr>
            <a:r>
              <a:rPr lang="en-US" sz="1750" b="0" i="0" u="none" strike="noStrike" cap="non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By providing a means to understand and manage anxiety, we contribute to a more positive educational journey.</a:t>
            </a:r>
            <a:endParaRPr sz="1750" b="0" i="0" u="none" strike="noStrike" cap="non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2"/>
          <p:cNvSpPr/>
          <p:nvPr/>
        </p:nvSpPr>
        <p:spPr>
          <a:xfrm>
            <a:off x="6280190" y="2969419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4450"/>
              <a:buFont typeface="Sora"/>
              <a:buNone/>
            </a:pPr>
            <a:r>
              <a:rPr lang="en-US" sz="4450" b="0" i="0" u="none" strike="noStrike" cap="none">
                <a:solidFill>
                  <a:srgbClr val="97B8FF"/>
                </a:solidFill>
                <a:latin typeface="Sora"/>
                <a:ea typeface="Sora"/>
                <a:cs typeface="Sora"/>
                <a:sym typeface="Sora"/>
              </a:rPr>
              <a:t>Thank You</a:t>
            </a:r>
            <a:endParaRPr sz="4450" b="0" i="0" u="none" strike="noStrike" cap="none"/>
          </a:p>
        </p:txBody>
      </p:sp>
      <p:sp>
        <p:nvSpPr>
          <p:cNvPr id="252" name="Google Shape;252;p22"/>
          <p:cNvSpPr/>
          <p:nvPr/>
        </p:nvSpPr>
        <p:spPr>
          <a:xfrm>
            <a:off x="6280190" y="3768923"/>
            <a:ext cx="4092178" cy="425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2650"/>
              <a:buFont typeface="Sora"/>
              <a:buNone/>
            </a:pPr>
            <a:r>
              <a:rPr lang="en-US" sz="2650" b="0" i="0" u="none" strike="noStrike" cap="none">
                <a:solidFill>
                  <a:srgbClr val="97B8FF"/>
                </a:solidFill>
                <a:latin typeface="Sora"/>
                <a:ea typeface="Sora"/>
                <a:cs typeface="Sora"/>
                <a:sym typeface="Sora"/>
              </a:rPr>
              <a:t>Questions &amp; Discussion</a:t>
            </a:r>
            <a:endParaRPr sz="2650" b="0" i="0" u="none" strike="noStrike" cap="none"/>
          </a:p>
        </p:txBody>
      </p:sp>
      <p:sp>
        <p:nvSpPr>
          <p:cNvPr id="253" name="Google Shape;253;p22"/>
          <p:cNvSpPr/>
          <p:nvPr/>
        </p:nvSpPr>
        <p:spPr>
          <a:xfrm>
            <a:off x="6280190" y="4534376"/>
            <a:ext cx="7556421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Noto Sans TC"/>
              <a:buNone/>
            </a:pPr>
            <a:r>
              <a:rPr lang="en-US" sz="1750" b="0" i="0" u="none" strike="noStrike" cap="non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We appreciate your time and interest in our project. We are now open for any questions you may have.</a:t>
            </a:r>
            <a:endParaRPr sz="1750" b="0" i="0" u="none" strike="noStrike" cap="non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572</Words>
  <Application>Microsoft Office PowerPoint</Application>
  <PresentationFormat>Custom</PresentationFormat>
  <Paragraphs>105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Sora</vt:lpstr>
      <vt:lpstr>Noto Sans TC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Anamta Khurram</dc:creator>
  <cp:lastModifiedBy>ANAMTA KHURRAM</cp:lastModifiedBy>
  <cp:revision>7</cp:revision>
  <dcterms:modified xsi:type="dcterms:W3CDTF">2026-08-04T21:52:24Z</dcterms:modified>
</cp:coreProperties>
</file>